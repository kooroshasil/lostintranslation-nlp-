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2"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8" r:id="rId23"/>
    <p:sldId id="277"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User" initials="U" lastIdx="1" clrIdx="0">
    <p:extLst>
      <p:ext uri="{19B8F6BF-5375-455C-9EA6-DF929625EA0E}">
        <p15:presenceInfo xmlns:p15="http://schemas.microsoft.com/office/powerpoint/2012/main" userId="Use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3399"/>
    <a:srgbClr val="9900CC"/>
    <a:srgbClr val="CC0099"/>
    <a:srgbClr val="CC00FF"/>
    <a:srgbClr val="FF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458" autoAdjust="0"/>
  </p:normalViewPr>
  <p:slideViewPr>
    <p:cSldViewPr snapToGrid="0">
      <p:cViewPr varScale="1">
        <p:scale>
          <a:sx n="72" d="100"/>
          <a:sy n="72" d="100"/>
        </p:scale>
        <p:origin x="107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commentAuthors" Target="commentAuthors.xml"/><Relationship Id="rId8" Type="http://schemas.openxmlformats.org/officeDocument/2006/relationships/slide" Target="slides/slide7.xml"/><Relationship Id="rId3" Type="http://schemas.openxmlformats.org/officeDocument/2006/relationships/slide" Target="slides/slide2.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6-01-28T22:12:06.462" idx="1">
    <p:pos x="10" y="10"/>
    <p:text/>
    <p:extLst>
      <p:ext uri="{C676402C-5697-4E1C-873F-D02D1690AC5C}">
        <p15:threadingInfo xmlns:p15="http://schemas.microsoft.com/office/powerpoint/2012/main" timeZoneBias="-21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9F3B82-4F85-4DF9-B97F-AA6CAB9B871E}" type="datetimeFigureOut">
              <a:rPr lang="en-US" smtClean="0"/>
              <a:t>1/28/2026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AEC364-F6D2-4B7A-899D-57D051C78254}" type="slidenum">
              <a:rPr lang="en-US" smtClean="0"/>
              <a:t>‹#›</a:t>
            </a:fld>
            <a:endParaRPr lang="en-US"/>
          </a:p>
        </p:txBody>
      </p:sp>
    </p:spTree>
    <p:extLst>
      <p:ext uri="{BB962C8B-B14F-4D97-AF65-F5344CB8AC3E}">
        <p14:creationId xmlns:p14="http://schemas.microsoft.com/office/powerpoint/2010/main" val="18602811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3</a:t>
            </a:fld>
            <a:endParaRPr lang="en-US"/>
          </a:p>
        </p:txBody>
      </p:sp>
    </p:spTree>
    <p:extLst>
      <p:ext uri="{BB962C8B-B14F-4D97-AF65-F5344CB8AC3E}">
        <p14:creationId xmlns:p14="http://schemas.microsoft.com/office/powerpoint/2010/main" val="24372290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indent="-342900">
              <a:buFont typeface="Arial" panose="020B0604020202020204" pitchFamily="34" charset="0"/>
              <a:buChar char="•"/>
            </a:pPr>
            <a:r>
              <a:rPr lang="en-US" sz="2500" b="0" i="0" u="none" strike="noStrike" kern="1200" baseline="0" dirty="0" smtClean="0">
                <a:solidFill>
                  <a:schemeClr val="tx1"/>
                </a:solidFill>
                <a:latin typeface="+mn-lt"/>
                <a:ea typeface="+mn-ea"/>
                <a:cs typeface="+mn-cs"/>
              </a:rPr>
              <a:t>Figure 1: </a:t>
            </a:r>
            <a:r>
              <a:rPr lang="en-US" sz="2500" b="0" i="0" u="none" strike="noStrike" kern="1200" baseline="0" dirty="0" err="1" smtClean="0">
                <a:solidFill>
                  <a:schemeClr val="tx1"/>
                </a:solidFill>
                <a:latin typeface="+mn-lt"/>
                <a:ea typeface="+mn-ea"/>
                <a:cs typeface="+mn-cs"/>
              </a:rPr>
              <a:t>GraphRAG</a:t>
            </a:r>
            <a:r>
              <a:rPr lang="en-US" sz="2500" b="0" i="0" u="none" strike="noStrike" kern="1200" baseline="0" dirty="0" smtClean="0">
                <a:solidFill>
                  <a:schemeClr val="tx1"/>
                </a:solidFill>
                <a:latin typeface="+mn-lt"/>
                <a:ea typeface="+mn-ea"/>
                <a:cs typeface="+mn-cs"/>
              </a:rPr>
              <a:t> uses all the information within certain communities, while </a:t>
            </a:r>
            <a:r>
              <a:rPr lang="en-US" sz="2500" b="0" i="0" u="none" strike="noStrike" kern="1200" baseline="0" dirty="0" err="1" smtClean="0">
                <a:solidFill>
                  <a:schemeClr val="tx1"/>
                </a:solidFill>
                <a:latin typeface="+mn-lt"/>
                <a:ea typeface="+mn-ea"/>
                <a:cs typeface="+mn-cs"/>
              </a:rPr>
              <a:t>LightRAG</a:t>
            </a:r>
            <a:r>
              <a:rPr lang="en-US" sz="2500" b="0" i="0" u="none" strike="noStrike" kern="1200" baseline="0" dirty="0" smtClean="0">
                <a:solidFill>
                  <a:schemeClr val="tx1"/>
                </a:solidFill>
                <a:latin typeface="+mn-lt"/>
                <a:ea typeface="+mn-ea"/>
                <a:cs typeface="+mn-cs"/>
              </a:rPr>
              <a:t> uses all the immediate neighbors of query-related nodes. In contrast, our </a:t>
            </a:r>
            <a:r>
              <a:rPr lang="en-US" sz="2500" b="0" i="0" u="none" strike="noStrike" kern="1200" baseline="0" dirty="0" err="1" smtClean="0">
                <a:solidFill>
                  <a:schemeClr val="tx1"/>
                </a:solidFill>
                <a:latin typeface="+mn-lt"/>
                <a:ea typeface="+mn-ea"/>
                <a:cs typeface="+mn-cs"/>
              </a:rPr>
              <a:t>PathRAG</a:t>
            </a:r>
            <a:r>
              <a:rPr lang="en-US" sz="2500" b="0" i="0" u="none" strike="noStrike" kern="1200" baseline="0" dirty="0" smtClean="0">
                <a:solidFill>
                  <a:schemeClr val="tx1"/>
                </a:solidFill>
                <a:latin typeface="+mn-lt"/>
                <a:ea typeface="+mn-ea"/>
                <a:cs typeface="+mn-cs"/>
              </a:rPr>
              <a:t> focuses on key relational paths between query-related nodes to alleviate noise and reduce token consumption.</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200" b="0" i="0" u="none" strike="noStrike" kern="1200" baseline="0" dirty="0" smtClean="0">
                <a:solidFill>
                  <a:schemeClr val="tx1"/>
                </a:solidFill>
                <a:latin typeface="+mn-lt"/>
                <a:ea typeface="+mn-ea"/>
                <a:cs typeface="+mn-cs"/>
              </a:rPr>
              <a:t>However, we argue that the information considered in previous graph-based RAG methods is often redundant, which can introduce noise, degrade model performance, and increase token consumption.</a:t>
            </a:r>
          </a:p>
          <a:p>
            <a:pPr marL="342900" indent="-342900">
              <a:buFont typeface="Arial" panose="020B0604020202020204" pitchFamily="34" charset="0"/>
              <a:buChar char="•"/>
            </a:pPr>
            <a:endParaRPr lang="en-US" sz="2500" dirty="0"/>
          </a:p>
        </p:txBody>
      </p:sp>
      <p:sp>
        <p:nvSpPr>
          <p:cNvPr id="4" name="Slide Number Placeholder 3"/>
          <p:cNvSpPr>
            <a:spLocks noGrp="1"/>
          </p:cNvSpPr>
          <p:nvPr>
            <p:ph type="sldNum" sz="quarter" idx="10"/>
          </p:nvPr>
        </p:nvSpPr>
        <p:spPr/>
        <p:txBody>
          <a:bodyPr/>
          <a:lstStyle/>
          <a:p>
            <a:fld id="{ADAEC364-F6D2-4B7A-899D-57D051C78254}" type="slidenum">
              <a:rPr lang="en-US" smtClean="0"/>
              <a:t>4</a:t>
            </a:fld>
            <a:endParaRPr lang="en-US"/>
          </a:p>
        </p:txBody>
      </p:sp>
    </p:spTree>
    <p:extLst>
      <p:ext uri="{BB962C8B-B14F-4D97-AF65-F5344CB8AC3E}">
        <p14:creationId xmlns:p14="http://schemas.microsoft.com/office/powerpoint/2010/main" val="9747038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panose="020B0604020202020204" pitchFamily="34" charset="0"/>
              <a:buChar char="•"/>
            </a:pPr>
            <a:r>
              <a:rPr lang="en-US" sz="1600" b="0" i="0" u="none" strike="noStrike" kern="1200" baseline="0" dirty="0" smtClean="0">
                <a:solidFill>
                  <a:schemeClr val="tx1"/>
                </a:solidFill>
                <a:latin typeface="+mn-lt"/>
                <a:ea typeface="+mn-ea"/>
                <a:cs typeface="+mn-cs"/>
              </a:rPr>
              <a:t>The pruning algorithm enjoys low time complexity, and can assign a reliability score to each retrieved path.</a:t>
            </a:r>
          </a:p>
          <a:p>
            <a:pPr marL="285750" indent="-285750">
              <a:buFont typeface="Arial" panose="020B0604020202020204" pitchFamily="34" charset="0"/>
              <a:buChar char="•"/>
            </a:pPr>
            <a:endParaRPr lang="en-US" sz="1600" dirty="0"/>
          </a:p>
        </p:txBody>
      </p:sp>
      <p:sp>
        <p:nvSpPr>
          <p:cNvPr id="4" name="Slide Number Placeholder 3"/>
          <p:cNvSpPr>
            <a:spLocks noGrp="1"/>
          </p:cNvSpPr>
          <p:nvPr>
            <p:ph type="sldNum" sz="quarter" idx="10"/>
          </p:nvPr>
        </p:nvSpPr>
        <p:spPr/>
        <p:txBody>
          <a:bodyPr/>
          <a:lstStyle/>
          <a:p>
            <a:fld id="{ADAEC364-F6D2-4B7A-899D-57D051C78254}" type="slidenum">
              <a:rPr lang="en-US" smtClean="0"/>
              <a:t>5</a:t>
            </a:fld>
            <a:endParaRPr lang="en-US"/>
          </a:p>
        </p:txBody>
      </p:sp>
    </p:spTree>
    <p:extLst>
      <p:ext uri="{BB962C8B-B14F-4D97-AF65-F5344CB8AC3E}">
        <p14:creationId xmlns:p14="http://schemas.microsoft.com/office/powerpoint/2010/main" val="30417006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err="1" smtClean="0">
                <a:solidFill>
                  <a:schemeClr val="tx1"/>
                </a:solidFill>
                <a:latin typeface="+mn-lt"/>
                <a:ea typeface="+mn-ea"/>
                <a:cs typeface="+mn-cs"/>
              </a:rPr>
              <a:t>PathRAG</a:t>
            </a:r>
            <a:r>
              <a:rPr lang="en-US" sz="1200" b="0" i="0" u="none" strike="noStrike" kern="1200" baseline="0" dirty="0" smtClean="0">
                <a:solidFill>
                  <a:schemeClr val="tx1"/>
                </a:solidFill>
                <a:latin typeface="+mn-lt"/>
                <a:ea typeface="+mn-ea"/>
                <a:cs typeface="+mn-cs"/>
              </a:rPr>
              <a:t> consistently outperforms state-of-the-art baselines across six datasets and five </a:t>
            </a:r>
            <a:r>
              <a:rPr lang="en-US" sz="1200" b="0" i="0" u="none" strike="noStrike" kern="1200" baseline="0" dirty="0" err="1" smtClean="0">
                <a:solidFill>
                  <a:schemeClr val="tx1"/>
                </a:solidFill>
                <a:latin typeface="+mn-lt"/>
                <a:ea typeface="+mn-ea"/>
                <a:cs typeface="+mn-cs"/>
              </a:rPr>
              <a:t>eval</a:t>
            </a:r>
            <a:r>
              <a:rPr lang="en-US" sz="1200" b="0" i="0" u="none" strike="noStrike" kern="1200" baseline="0" dirty="0" smtClean="0">
                <a:solidFill>
                  <a:schemeClr val="tx1"/>
                </a:solidFill>
                <a:latin typeface="+mn-lt"/>
                <a:ea typeface="+mn-ea"/>
                <a:cs typeface="+mn-cs"/>
              </a:rPr>
              <a:t>- </a:t>
            </a:r>
            <a:r>
              <a:rPr lang="en-US" sz="1200" b="0" i="0" u="none" strike="noStrike" kern="1200" baseline="0" dirty="0" err="1" smtClean="0">
                <a:solidFill>
                  <a:schemeClr val="tx1"/>
                </a:solidFill>
                <a:latin typeface="+mn-lt"/>
                <a:ea typeface="+mn-ea"/>
                <a:cs typeface="+mn-cs"/>
              </a:rPr>
              <a:t>uation</a:t>
            </a:r>
            <a:r>
              <a:rPr lang="en-US" sz="1200" b="0" i="0" u="none" strike="noStrike" kern="1200" baseline="0" dirty="0" smtClean="0">
                <a:solidFill>
                  <a:schemeClr val="tx1"/>
                </a:solidFill>
                <a:latin typeface="+mn-lt"/>
                <a:ea typeface="+mn-ea"/>
                <a:cs typeface="+mn-cs"/>
              </a:rPr>
              <a:t> dimensions. Extensive experiments further validate the design of </a:t>
            </a:r>
            <a:r>
              <a:rPr lang="en-US" sz="1200" b="0" i="0" u="none" strike="noStrike" kern="1200" baseline="0" dirty="0" err="1" smtClean="0">
                <a:solidFill>
                  <a:schemeClr val="tx1"/>
                </a:solidFill>
                <a:latin typeface="+mn-lt"/>
                <a:ea typeface="+mn-ea"/>
                <a:cs typeface="+mn-cs"/>
              </a:rPr>
              <a:t>PathRAG</a:t>
            </a:r>
            <a:r>
              <a:rPr lang="en-US" sz="1200" b="0" i="0" u="none" strike="noStrike" kern="1200" baseline="0" dirty="0" smtClean="0">
                <a:solidFill>
                  <a:schemeClr val="tx1"/>
                </a:solidFill>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6</a:t>
            </a:fld>
            <a:endParaRPr lang="en-US"/>
          </a:p>
        </p:txBody>
      </p:sp>
    </p:spTree>
    <p:extLst>
      <p:ext uri="{BB962C8B-B14F-4D97-AF65-F5344CB8AC3E}">
        <p14:creationId xmlns:p14="http://schemas.microsoft.com/office/powerpoint/2010/main" val="23894505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9</a:t>
            </a:fld>
            <a:endParaRPr lang="en-US"/>
          </a:p>
        </p:txBody>
      </p:sp>
    </p:spTree>
    <p:extLst>
      <p:ext uri="{BB962C8B-B14F-4D97-AF65-F5344CB8AC3E}">
        <p14:creationId xmlns:p14="http://schemas.microsoft.com/office/powerpoint/2010/main" val="1839251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smtClean="0"/>
              <a:t>KG-RAG example</a:t>
            </a:r>
            <a:endParaRPr lang="en-US" dirty="0" smtClean="0"/>
          </a:p>
          <a:p>
            <a:pPr marL="0" indent="0">
              <a:buFont typeface="Arial" panose="020B0604020202020204" pitchFamily="34" charset="0"/>
              <a:buNone/>
            </a:pPr>
            <a:r>
              <a:rPr lang="en-US" b="1" dirty="0" smtClean="0"/>
              <a:t>Knowledge graph (triples)</a:t>
            </a:r>
            <a:endParaRPr lang="en-US" dirty="0" smtClean="0"/>
          </a:p>
          <a:p>
            <a:pPr marL="171450" indent="-171450">
              <a:buFont typeface="Arial" panose="020B0604020202020204" pitchFamily="34" charset="0"/>
              <a:buChar char="•"/>
            </a:pPr>
            <a:r>
              <a:rPr lang="en-US" dirty="0" smtClean="0"/>
              <a:t>(Transformer, </a:t>
            </a:r>
            <a:r>
              <a:rPr lang="en-US" i="1" dirty="0" err="1" smtClean="0"/>
              <a:t>used_in</a:t>
            </a:r>
            <a:r>
              <a:rPr lang="en-US" dirty="0" smtClean="0"/>
              <a:t>, RAG)</a:t>
            </a:r>
          </a:p>
          <a:p>
            <a:pPr marL="171450" indent="-171450">
              <a:buFont typeface="Arial" panose="020B0604020202020204" pitchFamily="34" charset="0"/>
              <a:buChar char="•"/>
            </a:pPr>
            <a:r>
              <a:rPr lang="en-US" dirty="0" smtClean="0"/>
              <a:t>(Graph-RAG, </a:t>
            </a:r>
            <a:r>
              <a:rPr lang="en-US" i="1" dirty="0" err="1" smtClean="0"/>
              <a:t>type_of</a:t>
            </a:r>
            <a:r>
              <a:rPr lang="en-US" dirty="0" smtClean="0"/>
              <a:t>, RAG)</a:t>
            </a:r>
          </a:p>
          <a:p>
            <a:pPr marL="171450" indent="-171450">
              <a:buFont typeface="Arial" panose="020B0604020202020204" pitchFamily="34" charset="0"/>
              <a:buChar char="•"/>
            </a:pPr>
            <a:r>
              <a:rPr lang="en-US" dirty="0" smtClean="0"/>
              <a:t>(Transformer, </a:t>
            </a:r>
            <a:r>
              <a:rPr lang="en-US" i="1" dirty="0" smtClean="0"/>
              <a:t>improves</a:t>
            </a:r>
            <a:r>
              <a:rPr lang="en-US" dirty="0" smtClean="0"/>
              <a:t>, Long-Range Dependency)</a:t>
            </a:r>
          </a:p>
          <a:p>
            <a:pPr marL="0" indent="0">
              <a:buFont typeface="Arial" panose="020B0604020202020204" pitchFamily="34" charset="0"/>
              <a:buNone/>
            </a:pPr>
            <a:r>
              <a:rPr lang="en-US" b="1" dirty="0" smtClean="0"/>
              <a:t>Entities</a:t>
            </a:r>
            <a:endParaRPr lang="en-US" dirty="0" smtClean="0"/>
          </a:p>
          <a:p>
            <a:pPr marL="171450" indent="-171450">
              <a:buFont typeface="Arial" panose="020B0604020202020204" pitchFamily="34" charset="0"/>
              <a:buChar char="•"/>
            </a:pPr>
            <a:r>
              <a:rPr lang="en-US" dirty="0" smtClean="0"/>
              <a:t>Transformer</a:t>
            </a:r>
          </a:p>
          <a:p>
            <a:pPr marL="171450" indent="-171450">
              <a:buFont typeface="Arial" panose="020B0604020202020204" pitchFamily="34" charset="0"/>
              <a:buChar char="•"/>
            </a:pPr>
            <a:r>
              <a:rPr lang="en-US" dirty="0" smtClean="0"/>
              <a:t>RAG</a:t>
            </a:r>
          </a:p>
          <a:p>
            <a:pPr marL="171450" indent="-171450">
              <a:buFont typeface="Arial" panose="020B0604020202020204" pitchFamily="34" charset="0"/>
              <a:buChar char="•"/>
            </a:pPr>
            <a:r>
              <a:rPr lang="en-US" dirty="0" smtClean="0"/>
              <a:t>Graph-RAG</a:t>
            </a:r>
          </a:p>
          <a:p>
            <a:pPr marL="171450" indent="-171450">
              <a:buFont typeface="Arial" panose="020B0604020202020204" pitchFamily="34" charset="0"/>
              <a:buChar char="•"/>
            </a:pPr>
            <a:r>
              <a:rPr lang="en-US" dirty="0" smtClean="0"/>
              <a:t>Long-Range Dependency</a:t>
            </a:r>
          </a:p>
          <a:p>
            <a:pPr marL="0" indent="0">
              <a:buFont typeface="Arial" panose="020B0604020202020204" pitchFamily="34" charset="0"/>
              <a:buNone/>
            </a:pPr>
            <a:r>
              <a:rPr lang="en-US" b="1" dirty="0" smtClean="0"/>
              <a:t>User query</a:t>
            </a:r>
            <a:endParaRPr lang="en-US" dirty="0" smtClean="0"/>
          </a:p>
          <a:p>
            <a:pPr marL="171450" indent="-171450">
              <a:buFont typeface="Arial" panose="020B0604020202020204" pitchFamily="34" charset="0"/>
              <a:buChar char="•"/>
            </a:pPr>
            <a:r>
              <a:rPr lang="en-US" i="1" dirty="0" smtClean="0"/>
              <a:t>“How do transformers relate to RAG?”</a:t>
            </a:r>
            <a:endParaRPr lang="en-US" dirty="0" smtClean="0"/>
          </a:p>
          <a:p>
            <a:pPr marL="0" indent="0">
              <a:buFont typeface="Arial" panose="020B0604020202020204" pitchFamily="34" charset="0"/>
              <a:buNone/>
            </a:pPr>
            <a:r>
              <a:rPr lang="en-US" b="1" dirty="0" smtClean="0"/>
              <a:t>Entity linking</a:t>
            </a:r>
            <a:endParaRPr lang="en-US" dirty="0" smtClean="0"/>
          </a:p>
          <a:p>
            <a:pPr marL="171450" indent="-171450">
              <a:buFont typeface="Arial" panose="020B0604020202020204" pitchFamily="34" charset="0"/>
              <a:buChar char="•"/>
            </a:pPr>
            <a:r>
              <a:rPr lang="en-US" dirty="0" smtClean="0"/>
              <a:t>Transformer</a:t>
            </a:r>
          </a:p>
          <a:p>
            <a:pPr marL="171450" indent="-171450">
              <a:buFont typeface="Arial" panose="020B0604020202020204" pitchFamily="34" charset="0"/>
              <a:buChar char="•"/>
            </a:pPr>
            <a:r>
              <a:rPr lang="en-US" dirty="0" smtClean="0"/>
              <a:t>RAG</a:t>
            </a:r>
          </a:p>
          <a:p>
            <a:pPr marL="0" indent="0">
              <a:buFont typeface="Arial" panose="020B0604020202020204" pitchFamily="34" charset="0"/>
              <a:buNone/>
            </a:pPr>
            <a:r>
              <a:rPr lang="en-US" b="1" dirty="0" smtClean="0"/>
              <a:t>Retrieved local subgraph</a:t>
            </a:r>
            <a:endParaRPr lang="en-US" dirty="0" smtClean="0"/>
          </a:p>
          <a:p>
            <a:pPr marL="171450" indent="-171450">
              <a:buFont typeface="Arial" panose="020B0604020202020204" pitchFamily="34" charset="0"/>
              <a:buChar char="•"/>
            </a:pPr>
            <a:r>
              <a:rPr lang="en-US" dirty="0" smtClean="0"/>
              <a:t>Transformer → </a:t>
            </a:r>
            <a:r>
              <a:rPr lang="en-US" dirty="0" err="1" smtClean="0"/>
              <a:t>used_in</a:t>
            </a:r>
            <a:r>
              <a:rPr lang="en-US" dirty="0" smtClean="0"/>
              <a:t> → RAG</a:t>
            </a:r>
          </a:p>
          <a:p>
            <a:pPr marL="171450" indent="-171450">
              <a:buFont typeface="Arial" panose="020B0604020202020204" pitchFamily="34" charset="0"/>
              <a:buChar char="•"/>
            </a:pPr>
            <a:r>
              <a:rPr lang="en-US" dirty="0" smtClean="0"/>
              <a:t>Transformer → improves → Long-Range Dependency</a:t>
            </a:r>
          </a:p>
          <a:p>
            <a:pPr marL="0" indent="0">
              <a:buFont typeface="Arial" panose="020B0604020202020204" pitchFamily="34" charset="0"/>
              <a:buNone/>
            </a:pPr>
            <a:r>
              <a:rPr lang="en-US" b="1" dirty="0" smtClean="0"/>
              <a:t>Context sent to LLM</a:t>
            </a:r>
            <a:endParaRPr lang="en-US" dirty="0" smtClean="0"/>
          </a:p>
          <a:p>
            <a:pPr marL="171450" indent="-171450">
              <a:buFont typeface="Arial" panose="020B0604020202020204" pitchFamily="34" charset="0"/>
              <a:buChar char="•"/>
            </a:pPr>
            <a:r>
              <a:rPr lang="en-US" dirty="0" smtClean="0"/>
              <a:t>Retrieved entities + relations (triples)</a:t>
            </a:r>
          </a:p>
          <a:p>
            <a:pPr marL="0" indent="0">
              <a:buFont typeface="Arial" panose="020B0604020202020204" pitchFamily="34" charset="0"/>
              <a:buNone/>
            </a:pPr>
            <a:r>
              <a:rPr lang="en-US" b="1" dirty="0" smtClean="0"/>
              <a:t>Output</a:t>
            </a:r>
            <a:endParaRPr lang="en-US" dirty="0" smtClean="0"/>
          </a:p>
          <a:p>
            <a:pPr marL="171450" indent="-171450">
              <a:buFont typeface="Arial" panose="020B0604020202020204" pitchFamily="34" charset="0"/>
              <a:buChar char="•"/>
            </a:pPr>
            <a:r>
              <a:rPr lang="en-US" dirty="0" smtClean="0"/>
              <a:t>Answer based on KG facts (entity–relation level)</a:t>
            </a:r>
          </a:p>
          <a:p>
            <a:pPr marL="171450" indent="-171450">
              <a:buFont typeface="Arial" panose="020B0604020202020204" pitchFamily="34" charset="0"/>
              <a:buChar char="•"/>
            </a:pPr>
            <a:endParaRPr lang="en-US" dirty="0" smtClean="0"/>
          </a:p>
          <a:p>
            <a:pPr marL="171450" indent="-171450">
              <a:buFont typeface="Arial" panose="020B0604020202020204" pitchFamily="34" charset="0"/>
              <a:buChar char="•"/>
            </a:pPr>
            <a:endParaRPr lang="en-US" dirty="0" smtClean="0"/>
          </a:p>
          <a:p>
            <a:pPr marL="0" indent="0">
              <a:buFont typeface="Arial" panose="020B0604020202020204" pitchFamily="34" charset="0"/>
              <a:buNone/>
            </a:pPr>
            <a:r>
              <a:rPr lang="en-US" dirty="0" smtClean="0"/>
              <a:t>In this example, the knowledge base is a knowledge graph containing facts expressed as triples, such as </a:t>
            </a:r>
            <a:r>
              <a:rPr lang="en-US" i="1" dirty="0" smtClean="0"/>
              <a:t>(Transformer, </a:t>
            </a:r>
            <a:r>
              <a:rPr lang="en-US" i="1" dirty="0" err="1" smtClean="0"/>
              <a:t>used_in</a:t>
            </a:r>
            <a:r>
              <a:rPr lang="en-US" i="1" dirty="0" smtClean="0"/>
              <a:t>, RAG)</a:t>
            </a:r>
            <a:r>
              <a:rPr lang="en-US" dirty="0" smtClean="0"/>
              <a:t> and </a:t>
            </a:r>
            <a:r>
              <a:rPr lang="en-US" i="1" dirty="0" smtClean="0"/>
              <a:t>(Transformer, improves, Long-Range Dependency)</a:t>
            </a:r>
            <a:r>
              <a:rPr lang="en-US" dirty="0" smtClean="0"/>
              <a:t>. When the user asks </a:t>
            </a:r>
            <a:r>
              <a:rPr lang="en-US" i="1" dirty="0" smtClean="0"/>
              <a:t>“How do transformers relate to RAG?”</a:t>
            </a:r>
            <a:r>
              <a:rPr lang="en-US" dirty="0" smtClean="0"/>
              <a:t>, the system first links the query to the relevant entities </a:t>
            </a:r>
            <a:r>
              <a:rPr lang="en-US" b="1" dirty="0" smtClean="0"/>
              <a:t>Transformer</a:t>
            </a:r>
            <a:r>
              <a:rPr lang="en-US" dirty="0" smtClean="0"/>
              <a:t> and </a:t>
            </a:r>
            <a:r>
              <a:rPr lang="en-US" b="1" dirty="0" smtClean="0"/>
              <a:t>RAG</a:t>
            </a:r>
            <a:r>
              <a:rPr lang="en-US" dirty="0" smtClean="0"/>
              <a:t>. KG-RAG then retrieves a </a:t>
            </a:r>
            <a:r>
              <a:rPr lang="en-US" b="1" dirty="0" smtClean="0"/>
              <a:t>local subgraph</a:t>
            </a:r>
            <a:r>
              <a:rPr lang="en-US" dirty="0" smtClean="0"/>
              <a:t> around these entities, capturing only the directly connected relations. The retrieved entities and triples are passed to the language model, which generates an answer strictly grounded in these structured facts, reasoning at the </a:t>
            </a:r>
            <a:r>
              <a:rPr lang="en-US" b="1" dirty="0" smtClean="0"/>
              <a:t>entity–relation level</a:t>
            </a:r>
            <a:r>
              <a:rPr lang="en-US" dirty="0" smtClean="0"/>
              <a:t> rather than over raw text.</a:t>
            </a:r>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11</a:t>
            </a:fld>
            <a:endParaRPr lang="en-US"/>
          </a:p>
        </p:txBody>
      </p:sp>
    </p:spTree>
    <p:extLst>
      <p:ext uri="{BB962C8B-B14F-4D97-AF65-F5344CB8AC3E}">
        <p14:creationId xmlns:p14="http://schemas.microsoft.com/office/powerpoint/2010/main" val="1116305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sz="1400" b="1" dirty="0" smtClean="0"/>
              <a:t>Graph-RAG example (step-by-step, minimal explanation)</a:t>
            </a:r>
            <a:endParaRPr lang="en-US" sz="1400" dirty="0" smtClean="0"/>
          </a:p>
          <a:p>
            <a:pPr marL="285750" indent="-285750">
              <a:buFont typeface="Arial" panose="020B0604020202020204" pitchFamily="34" charset="0"/>
              <a:buChar char="•"/>
            </a:pPr>
            <a:r>
              <a:rPr lang="en-US" sz="1400" b="1" dirty="0" smtClean="0"/>
              <a:t>Text chunks in database</a:t>
            </a:r>
            <a:endParaRPr lang="en-US" sz="1400" dirty="0" smtClean="0"/>
          </a:p>
          <a:p>
            <a:pPr marL="285750" indent="-285750">
              <a:buFont typeface="Arial" panose="020B0604020202020204" pitchFamily="34" charset="0"/>
              <a:buChar char="•"/>
            </a:pPr>
            <a:r>
              <a:rPr lang="en-US" sz="1400" dirty="0" smtClean="0"/>
              <a:t>C1: </a:t>
            </a:r>
            <a:r>
              <a:rPr lang="en-US" sz="1400" i="1" dirty="0" smtClean="0"/>
              <a:t>“Transformers model long-range dependencies in NLP.”</a:t>
            </a:r>
            <a:endParaRPr lang="en-US" sz="1400" dirty="0" smtClean="0"/>
          </a:p>
          <a:p>
            <a:pPr marL="285750" indent="-285750">
              <a:buFont typeface="Arial" panose="020B0604020202020204" pitchFamily="34" charset="0"/>
              <a:buChar char="•"/>
            </a:pPr>
            <a:r>
              <a:rPr lang="en-US" sz="1400" dirty="0" smtClean="0"/>
              <a:t>C2: </a:t>
            </a:r>
            <a:r>
              <a:rPr lang="en-US" sz="1400" i="1" dirty="0" smtClean="0"/>
              <a:t>“Graph-RAG connects related text chunks using entity links.”</a:t>
            </a:r>
            <a:endParaRPr lang="en-US" sz="1400" dirty="0" smtClean="0"/>
          </a:p>
          <a:p>
            <a:pPr marL="285750" indent="-285750">
              <a:buFont typeface="Arial" panose="020B0604020202020204" pitchFamily="34" charset="0"/>
              <a:buChar char="•"/>
            </a:pPr>
            <a:r>
              <a:rPr lang="en-US" sz="1400" dirty="0" smtClean="0"/>
              <a:t>C3: </a:t>
            </a:r>
            <a:r>
              <a:rPr lang="en-US" sz="1400" i="1" dirty="0" smtClean="0"/>
              <a:t>“Transformers are used in modern RAG systems.”</a:t>
            </a:r>
            <a:endParaRPr lang="en-US" sz="1400" dirty="0" smtClean="0"/>
          </a:p>
          <a:p>
            <a:pPr marL="0" indent="0">
              <a:buFont typeface="Arial" panose="020B0604020202020204" pitchFamily="34" charset="0"/>
              <a:buNone/>
            </a:pPr>
            <a:r>
              <a:rPr lang="en-US" sz="1400" b="1" dirty="0" smtClean="0"/>
              <a:t>Entities extracted</a:t>
            </a:r>
            <a:endParaRPr lang="en-US" sz="1400" dirty="0" smtClean="0"/>
          </a:p>
          <a:p>
            <a:pPr marL="285750" indent="-285750">
              <a:buFont typeface="Arial" panose="020B0604020202020204" pitchFamily="34" charset="0"/>
              <a:buChar char="•"/>
            </a:pPr>
            <a:r>
              <a:rPr lang="en-US" sz="1400" dirty="0" smtClean="0"/>
              <a:t>Transformers</a:t>
            </a:r>
          </a:p>
          <a:p>
            <a:pPr marL="285750" indent="-285750">
              <a:buFont typeface="Arial" panose="020B0604020202020204" pitchFamily="34" charset="0"/>
              <a:buChar char="•"/>
            </a:pPr>
            <a:r>
              <a:rPr lang="en-US" sz="1400" dirty="0" smtClean="0"/>
              <a:t>Graph-RAG</a:t>
            </a:r>
          </a:p>
          <a:p>
            <a:pPr marL="285750" indent="-285750">
              <a:buFont typeface="Arial" panose="020B0604020202020204" pitchFamily="34" charset="0"/>
              <a:buChar char="•"/>
            </a:pPr>
            <a:r>
              <a:rPr lang="en-US" sz="1400" dirty="0" smtClean="0"/>
              <a:t>RAG systems</a:t>
            </a:r>
          </a:p>
          <a:p>
            <a:pPr marL="0" indent="0">
              <a:buFont typeface="Arial" panose="020B0604020202020204" pitchFamily="34" charset="0"/>
              <a:buNone/>
            </a:pPr>
            <a:r>
              <a:rPr lang="en-US" sz="1400" b="1" dirty="0" smtClean="0"/>
              <a:t>Graph edges</a:t>
            </a:r>
            <a:endParaRPr lang="en-US" sz="1400" dirty="0" smtClean="0"/>
          </a:p>
          <a:p>
            <a:pPr marL="285750" indent="-285750">
              <a:buFont typeface="Arial" panose="020B0604020202020204" pitchFamily="34" charset="0"/>
              <a:buChar char="•"/>
            </a:pPr>
            <a:r>
              <a:rPr lang="en-US" sz="1400" dirty="0" smtClean="0"/>
              <a:t>Transformers ↔ RAG systems</a:t>
            </a:r>
          </a:p>
          <a:p>
            <a:pPr marL="285750" indent="-285750">
              <a:buFont typeface="Arial" panose="020B0604020202020204" pitchFamily="34" charset="0"/>
              <a:buChar char="•"/>
            </a:pPr>
            <a:r>
              <a:rPr lang="en-US" sz="1400" dirty="0" smtClean="0"/>
              <a:t>RAG systems ↔ Graph-RAG</a:t>
            </a:r>
          </a:p>
          <a:p>
            <a:pPr marL="0" indent="0">
              <a:buFont typeface="Arial" panose="020B0604020202020204" pitchFamily="34" charset="0"/>
              <a:buNone/>
            </a:pPr>
            <a:r>
              <a:rPr lang="en-US" sz="1400" b="1" dirty="0" smtClean="0"/>
              <a:t>User query</a:t>
            </a:r>
            <a:endParaRPr lang="en-US" sz="1400" dirty="0" smtClean="0"/>
          </a:p>
          <a:p>
            <a:pPr marL="285750" indent="-285750">
              <a:buFont typeface="Arial" panose="020B0604020202020204" pitchFamily="34" charset="0"/>
              <a:buChar char="•"/>
            </a:pPr>
            <a:r>
              <a:rPr lang="en-US" sz="1400" i="1" dirty="0" smtClean="0"/>
              <a:t>“How are transformers used in Graph-RAG?”</a:t>
            </a:r>
            <a:endParaRPr lang="en-US" sz="1400" dirty="0" smtClean="0"/>
          </a:p>
          <a:p>
            <a:pPr marL="0" indent="0">
              <a:buFont typeface="Arial" panose="020B0604020202020204" pitchFamily="34" charset="0"/>
              <a:buNone/>
            </a:pPr>
            <a:r>
              <a:rPr lang="en-US" sz="1400" b="1" dirty="0" smtClean="0"/>
              <a:t>Retrieved subgraph</a:t>
            </a:r>
            <a:endParaRPr lang="en-US" sz="1400" dirty="0" smtClean="0"/>
          </a:p>
          <a:p>
            <a:pPr marL="285750" indent="-285750">
              <a:buFont typeface="Arial" panose="020B0604020202020204" pitchFamily="34" charset="0"/>
              <a:buChar char="•"/>
            </a:pPr>
            <a:r>
              <a:rPr lang="en-US" sz="1400" dirty="0" smtClean="0"/>
              <a:t>Transformers → RAG systems → Graph-RAG</a:t>
            </a:r>
          </a:p>
          <a:p>
            <a:pPr marL="285750" indent="-285750">
              <a:buFont typeface="Arial" panose="020B0604020202020204" pitchFamily="34" charset="0"/>
              <a:buChar char="•"/>
            </a:pPr>
            <a:r>
              <a:rPr lang="en-US" sz="1400" dirty="0" smtClean="0"/>
              <a:t>Attached text: C1 + C2 + C3</a:t>
            </a:r>
          </a:p>
          <a:p>
            <a:pPr marL="0" indent="0">
              <a:buFont typeface="Arial" panose="020B0604020202020204" pitchFamily="34" charset="0"/>
              <a:buNone/>
            </a:pPr>
            <a:r>
              <a:rPr lang="en-US" sz="1400" b="1" dirty="0" smtClean="0"/>
              <a:t>Context sent to LLM</a:t>
            </a:r>
            <a:endParaRPr lang="en-US" sz="1400" dirty="0" smtClean="0"/>
          </a:p>
          <a:p>
            <a:pPr marL="285750" indent="-285750">
              <a:buFont typeface="Arial" panose="020B0604020202020204" pitchFamily="34" charset="0"/>
              <a:buChar char="•"/>
            </a:pPr>
            <a:r>
              <a:rPr lang="en-US" sz="1400" dirty="0" smtClean="0"/>
              <a:t>Combined information from all connected chunks</a:t>
            </a:r>
          </a:p>
          <a:p>
            <a:pPr marL="0" indent="0">
              <a:buFont typeface="Arial" panose="020B0604020202020204" pitchFamily="34" charset="0"/>
              <a:buNone/>
            </a:pPr>
            <a:r>
              <a:rPr lang="en-US" sz="1400" b="1" dirty="0" smtClean="0"/>
              <a:t>Output</a:t>
            </a:r>
            <a:endParaRPr lang="en-US" sz="1400" dirty="0" smtClean="0"/>
          </a:p>
          <a:p>
            <a:pPr marL="285750" indent="-285750">
              <a:buFont typeface="Arial" panose="020B0604020202020204" pitchFamily="34" charset="0"/>
              <a:buChar char="•"/>
            </a:pPr>
            <a:r>
              <a:rPr lang="en-US" sz="1400" dirty="0" smtClean="0"/>
              <a:t>Answer integrates all three chunks, not a single passage.</a:t>
            </a:r>
          </a:p>
          <a:p>
            <a:pPr marL="285750" indent="-285750">
              <a:buFont typeface="Arial" panose="020B0604020202020204" pitchFamily="34" charset="0"/>
              <a:buChar char="•"/>
            </a:pPr>
            <a:endParaRPr lang="en-US" sz="1400" dirty="0" smtClean="0"/>
          </a:p>
          <a:p>
            <a:pPr marL="0" indent="0">
              <a:buFont typeface="Arial" panose="020B0604020202020204" pitchFamily="34" charset="0"/>
              <a:buNone/>
            </a:pPr>
            <a:r>
              <a:rPr lang="en-US" sz="1400" dirty="0" smtClean="0"/>
              <a:t>In this example, the database consists of multiple text chunks that are organized into a </a:t>
            </a:r>
            <a:r>
              <a:rPr lang="en-US" sz="1400" b="1" dirty="0" smtClean="0"/>
              <a:t>text-associated graph</a:t>
            </a:r>
            <a:r>
              <a:rPr lang="en-US" sz="1400" dirty="0" smtClean="0"/>
              <a:t>. Each chunk contributes entities such as </a:t>
            </a:r>
            <a:r>
              <a:rPr lang="en-US" sz="1400" b="1" dirty="0" smtClean="0"/>
              <a:t>Transformers</a:t>
            </a:r>
            <a:r>
              <a:rPr lang="en-US" sz="1400" dirty="0" smtClean="0"/>
              <a:t>, </a:t>
            </a:r>
            <a:r>
              <a:rPr lang="en-US" sz="1400" b="1" dirty="0" smtClean="0"/>
              <a:t>RAG systems</a:t>
            </a:r>
            <a:r>
              <a:rPr lang="en-US" sz="1400" dirty="0" smtClean="0"/>
              <a:t>, and </a:t>
            </a:r>
            <a:r>
              <a:rPr lang="en-US" sz="1400" b="1" dirty="0" smtClean="0"/>
              <a:t>Graph-RAG</a:t>
            </a:r>
            <a:r>
              <a:rPr lang="en-US" sz="1400" dirty="0" smtClean="0"/>
              <a:t>, which are linked based on their relationships across documents. When the user asks </a:t>
            </a:r>
            <a:r>
              <a:rPr lang="en-US" sz="1400" i="1" dirty="0" smtClean="0"/>
              <a:t>“How are transformers used in Graph-RAG?”</a:t>
            </a:r>
            <a:r>
              <a:rPr lang="en-US" sz="1400" dirty="0" smtClean="0"/>
              <a:t>, the system retrieves a </a:t>
            </a:r>
            <a:r>
              <a:rPr lang="en-US" sz="1400" b="1" dirty="0" smtClean="0"/>
              <a:t>connected subgraph</a:t>
            </a:r>
            <a:r>
              <a:rPr lang="en-US" sz="1400" dirty="0" smtClean="0"/>
              <a:t> spanning these entities rather than isolated text passages. The text attached to all connected nodes—</a:t>
            </a:r>
            <a:r>
              <a:rPr lang="en-US" sz="1400" i="1" dirty="0" smtClean="0"/>
              <a:t>C1, C2, and C3</a:t>
            </a:r>
            <a:r>
              <a:rPr lang="en-US" sz="1400" dirty="0" smtClean="0"/>
              <a:t>—is aggregated and provided to the language model, enabling it to generate an answer that integrates information across multiple chunks and captures the </a:t>
            </a:r>
            <a:r>
              <a:rPr lang="en-US" sz="1400" b="1" dirty="0" smtClean="0"/>
              <a:t>global context</a:t>
            </a:r>
            <a:r>
              <a:rPr lang="en-US" sz="1400" dirty="0" smtClean="0"/>
              <a:t> of the query.</a:t>
            </a:r>
            <a:endParaRPr lang="en-US" sz="1400" dirty="0"/>
          </a:p>
        </p:txBody>
      </p:sp>
      <p:sp>
        <p:nvSpPr>
          <p:cNvPr id="4" name="Slide Number Placeholder 3"/>
          <p:cNvSpPr>
            <a:spLocks noGrp="1"/>
          </p:cNvSpPr>
          <p:nvPr>
            <p:ph type="sldNum" sz="quarter" idx="10"/>
          </p:nvPr>
        </p:nvSpPr>
        <p:spPr/>
        <p:txBody>
          <a:bodyPr/>
          <a:lstStyle/>
          <a:p>
            <a:fld id="{ADAEC364-F6D2-4B7A-899D-57D051C78254}" type="slidenum">
              <a:rPr lang="en-US" smtClean="0"/>
              <a:t>13</a:t>
            </a:fld>
            <a:endParaRPr lang="en-US"/>
          </a:p>
        </p:txBody>
      </p:sp>
    </p:spTree>
    <p:extLst>
      <p:ext uri="{BB962C8B-B14F-4D97-AF65-F5344CB8AC3E}">
        <p14:creationId xmlns:p14="http://schemas.microsoft.com/office/powerpoint/2010/main" val="1810319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err="1" smtClean="0"/>
              <a:t>LightRAG</a:t>
            </a:r>
            <a:r>
              <a:rPr lang="en-US" b="1" dirty="0" smtClean="0"/>
              <a:t> example</a:t>
            </a:r>
            <a:endParaRPr lang="en-US" dirty="0" smtClean="0"/>
          </a:p>
          <a:p>
            <a:pPr marL="0" indent="0">
              <a:buFont typeface="Arial" panose="020B0604020202020204" pitchFamily="34" charset="0"/>
              <a:buNone/>
            </a:pPr>
            <a:r>
              <a:rPr lang="en-US" b="1" dirty="0" smtClean="0"/>
              <a:t>Text-associated graph</a:t>
            </a:r>
            <a:endParaRPr lang="en-US" dirty="0" smtClean="0"/>
          </a:p>
          <a:p>
            <a:pPr marL="171450" indent="-171450">
              <a:buFont typeface="Arial" panose="020B0604020202020204" pitchFamily="34" charset="0"/>
              <a:buChar char="•"/>
            </a:pPr>
            <a:r>
              <a:rPr lang="en-US" dirty="0" smtClean="0"/>
              <a:t>Nodes: Transformers, RAG, Graph-RAG, Attention</a:t>
            </a:r>
          </a:p>
          <a:p>
            <a:pPr marL="171450" indent="-171450">
              <a:buFont typeface="Arial" panose="020B0604020202020204" pitchFamily="34" charset="0"/>
              <a:buChar char="•"/>
            </a:pPr>
            <a:r>
              <a:rPr lang="en-US" dirty="0" smtClean="0"/>
              <a:t>Edges: usage, improves, </a:t>
            </a:r>
            <a:r>
              <a:rPr lang="en-US" dirty="0" err="1" smtClean="0"/>
              <a:t>related_to</a:t>
            </a:r>
            <a:endParaRPr lang="en-US" dirty="0" smtClean="0"/>
          </a:p>
          <a:p>
            <a:pPr marL="0" indent="0">
              <a:buFont typeface="Arial" panose="020B0604020202020204" pitchFamily="34" charset="0"/>
              <a:buNone/>
            </a:pPr>
            <a:r>
              <a:rPr lang="en-US" b="1" dirty="0" smtClean="0"/>
              <a:t>User query</a:t>
            </a:r>
            <a:endParaRPr lang="en-US" dirty="0" smtClean="0"/>
          </a:p>
          <a:p>
            <a:pPr marL="171450" indent="-171450">
              <a:buFont typeface="Arial" panose="020B0604020202020204" pitchFamily="34" charset="0"/>
              <a:buChar char="•"/>
            </a:pPr>
            <a:r>
              <a:rPr lang="en-US" i="1" dirty="0" smtClean="0"/>
              <a:t>“How do transformers help global reasoning in RAG?”</a:t>
            </a:r>
            <a:endParaRPr lang="en-US" dirty="0" smtClean="0"/>
          </a:p>
          <a:p>
            <a:pPr marL="0" indent="0">
              <a:buFont typeface="Arial" panose="020B0604020202020204" pitchFamily="34" charset="0"/>
              <a:buNone/>
            </a:pPr>
            <a:r>
              <a:rPr lang="en-US" b="1" dirty="0" smtClean="0"/>
              <a:t>Stage 1: Keyword extraction</a:t>
            </a:r>
            <a:endParaRPr lang="en-US" dirty="0" smtClean="0"/>
          </a:p>
          <a:p>
            <a:pPr marL="171450" indent="-171450">
              <a:buFont typeface="Arial" panose="020B0604020202020204" pitchFamily="34" charset="0"/>
              <a:buChar char="•"/>
            </a:pPr>
            <a:r>
              <a:rPr lang="en-US" dirty="0" smtClean="0"/>
              <a:t>Local keywords: transformers, RAG</a:t>
            </a:r>
          </a:p>
          <a:p>
            <a:pPr marL="171450" indent="-171450">
              <a:buFont typeface="Arial" panose="020B0604020202020204" pitchFamily="34" charset="0"/>
              <a:buChar char="•"/>
            </a:pPr>
            <a:r>
              <a:rPr lang="en-US" dirty="0" smtClean="0"/>
              <a:t>Global keywords: global reasoning</a:t>
            </a:r>
          </a:p>
          <a:p>
            <a:pPr marL="0" indent="0">
              <a:buFont typeface="Arial" panose="020B0604020202020204" pitchFamily="34" charset="0"/>
              <a:buNone/>
            </a:pPr>
            <a:r>
              <a:rPr lang="en-US" b="1" dirty="0" smtClean="0"/>
              <a:t>Stage 2: Keyword-based retrieval</a:t>
            </a:r>
            <a:endParaRPr lang="en-US" dirty="0" smtClean="0"/>
          </a:p>
          <a:p>
            <a:pPr marL="171450" indent="-171450">
              <a:buFont typeface="Arial" panose="020B0604020202020204" pitchFamily="34" charset="0"/>
              <a:buChar char="•"/>
            </a:pPr>
            <a:r>
              <a:rPr lang="en-US" dirty="0" smtClean="0"/>
              <a:t>Retrieved nodes: Transformers, RAG</a:t>
            </a:r>
          </a:p>
          <a:p>
            <a:pPr marL="171450" indent="-171450">
              <a:buFont typeface="Arial" panose="020B0604020202020204" pitchFamily="34" charset="0"/>
              <a:buChar char="•"/>
            </a:pPr>
            <a:r>
              <a:rPr lang="en-US" dirty="0" smtClean="0"/>
              <a:t>Retrieved edges: all edges connected to these nodes</a:t>
            </a:r>
          </a:p>
          <a:p>
            <a:pPr marL="0" indent="0">
              <a:buFont typeface="Arial" panose="020B0604020202020204" pitchFamily="34" charset="0"/>
              <a:buNone/>
            </a:pPr>
            <a:r>
              <a:rPr lang="en-US" b="1" dirty="0" smtClean="0"/>
              <a:t>Retrieved ego-networks</a:t>
            </a:r>
            <a:endParaRPr lang="en-US" dirty="0" smtClean="0"/>
          </a:p>
          <a:p>
            <a:pPr marL="171450" indent="-171450">
              <a:buFont typeface="Arial" panose="020B0604020202020204" pitchFamily="34" charset="0"/>
              <a:buChar char="•"/>
            </a:pPr>
            <a:r>
              <a:rPr lang="en-US" dirty="0" smtClean="0"/>
              <a:t>Transformers → </a:t>
            </a:r>
            <a:r>
              <a:rPr lang="en-US" dirty="0" err="1" smtClean="0"/>
              <a:t>used_in</a:t>
            </a:r>
            <a:r>
              <a:rPr lang="en-US" dirty="0" smtClean="0"/>
              <a:t> → RAG</a:t>
            </a:r>
          </a:p>
          <a:p>
            <a:pPr marL="171450" indent="-171450">
              <a:buFont typeface="Arial" panose="020B0604020202020204" pitchFamily="34" charset="0"/>
              <a:buChar char="•"/>
            </a:pPr>
            <a:r>
              <a:rPr lang="en-US" dirty="0" smtClean="0"/>
              <a:t>Transformers → improves → Attention</a:t>
            </a:r>
          </a:p>
          <a:p>
            <a:pPr marL="171450" indent="-171450">
              <a:buFont typeface="Arial" panose="020B0604020202020204" pitchFamily="34" charset="0"/>
              <a:buChar char="•"/>
            </a:pPr>
            <a:r>
              <a:rPr lang="en-US" dirty="0" smtClean="0"/>
              <a:t>RAG → </a:t>
            </a:r>
            <a:r>
              <a:rPr lang="en-US" dirty="0" err="1" smtClean="0"/>
              <a:t>related_to</a:t>
            </a:r>
            <a:r>
              <a:rPr lang="en-US" dirty="0" smtClean="0"/>
              <a:t> → Graph-RAG</a:t>
            </a:r>
          </a:p>
          <a:p>
            <a:pPr marL="0" indent="0">
              <a:buFont typeface="Arial" panose="020B0604020202020204" pitchFamily="34" charset="0"/>
              <a:buNone/>
            </a:pPr>
            <a:r>
              <a:rPr lang="en-US" b="1" dirty="0" smtClean="0"/>
              <a:t>Context sent to LLM</a:t>
            </a:r>
            <a:endParaRPr lang="en-US" dirty="0" smtClean="0"/>
          </a:p>
          <a:p>
            <a:pPr marL="171450" indent="-171450">
              <a:buFont typeface="Arial" panose="020B0604020202020204" pitchFamily="34" charset="0"/>
              <a:buChar char="•"/>
            </a:pPr>
            <a:r>
              <a:rPr lang="en-US" dirty="0" smtClean="0"/>
              <a:t>All nodes and edges in the ego-networks</a:t>
            </a:r>
          </a:p>
          <a:p>
            <a:pPr marL="0" indent="0">
              <a:buFont typeface="Arial" panose="020B0604020202020204" pitchFamily="34" charset="0"/>
              <a:buNone/>
            </a:pPr>
            <a:r>
              <a:rPr lang="en-US" b="1" dirty="0" smtClean="0"/>
              <a:t>Output</a:t>
            </a:r>
            <a:endParaRPr lang="en-US" dirty="0" smtClean="0"/>
          </a:p>
          <a:p>
            <a:pPr marL="171450" indent="-171450">
              <a:buFont typeface="Arial" panose="020B0604020202020204" pitchFamily="34" charset="0"/>
              <a:buChar char="•"/>
            </a:pPr>
            <a:r>
              <a:rPr lang="en-US" dirty="0" smtClean="0"/>
              <a:t>Answer generated from full neighborhood information (may include irrelevant relations).</a:t>
            </a:r>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15</a:t>
            </a:fld>
            <a:endParaRPr lang="en-US"/>
          </a:p>
        </p:txBody>
      </p:sp>
    </p:spTree>
    <p:extLst>
      <p:ext uri="{BB962C8B-B14F-4D97-AF65-F5344CB8AC3E}">
        <p14:creationId xmlns:p14="http://schemas.microsoft.com/office/powerpoint/2010/main" val="51848489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b="1" dirty="0" smtClean="0"/>
              <a:t>Graph-based RAG workflow example</a:t>
            </a:r>
            <a:endParaRPr lang="en-US" dirty="0" smtClean="0"/>
          </a:p>
          <a:p>
            <a:pPr marL="0" indent="0">
              <a:buFont typeface="Arial" panose="020B0604020202020204" pitchFamily="34" charset="0"/>
              <a:buNone/>
            </a:pPr>
            <a:r>
              <a:rPr lang="en-US" b="1" dirty="0" smtClean="0"/>
              <a:t>Text database</a:t>
            </a:r>
            <a:endParaRPr lang="en-US" dirty="0" smtClean="0"/>
          </a:p>
          <a:p>
            <a:pPr marL="171450" indent="-171450">
              <a:buFont typeface="Arial" panose="020B0604020202020204" pitchFamily="34" charset="0"/>
              <a:buChar char="•"/>
            </a:pPr>
            <a:r>
              <a:rPr lang="en-US" dirty="0" smtClean="0"/>
              <a:t>D1: “Transformers are widely used in modern NLP models.”</a:t>
            </a:r>
          </a:p>
          <a:p>
            <a:pPr marL="171450" indent="-171450">
              <a:buFont typeface="Arial" panose="020B0604020202020204" pitchFamily="34" charset="0"/>
              <a:buChar char="•"/>
            </a:pPr>
            <a:r>
              <a:rPr lang="en-US" dirty="0" smtClean="0"/>
              <a:t>D2: “RAG systems retrieve external knowledge for generation.”</a:t>
            </a:r>
          </a:p>
          <a:p>
            <a:pPr marL="171450" indent="-171450">
              <a:buFont typeface="Arial" panose="020B0604020202020204" pitchFamily="34" charset="0"/>
              <a:buChar char="•"/>
            </a:pPr>
            <a:r>
              <a:rPr lang="en-US" dirty="0" smtClean="0"/>
              <a:t>D3: “Graph-based RAG connects entities across documents.”</a:t>
            </a:r>
          </a:p>
          <a:p>
            <a:pPr marL="0" indent="0">
              <a:buFont typeface="Arial" panose="020B0604020202020204" pitchFamily="34" charset="0"/>
              <a:buNone/>
            </a:pPr>
            <a:r>
              <a:rPr lang="en-US" b="1" dirty="0" smtClean="0"/>
              <a:t>Entity extraction</a:t>
            </a:r>
            <a:endParaRPr lang="en-US" dirty="0" smtClean="0"/>
          </a:p>
          <a:p>
            <a:pPr marL="171450" indent="-171450">
              <a:buFont typeface="Arial" panose="020B0604020202020204" pitchFamily="34" charset="0"/>
              <a:buChar char="•"/>
            </a:pPr>
            <a:r>
              <a:rPr lang="en-US" dirty="0" smtClean="0"/>
              <a:t>Transformers</a:t>
            </a:r>
          </a:p>
          <a:p>
            <a:pPr marL="171450" indent="-171450">
              <a:buFont typeface="Arial" panose="020B0604020202020204" pitchFamily="34" charset="0"/>
              <a:buChar char="•"/>
            </a:pPr>
            <a:r>
              <a:rPr lang="en-US" dirty="0" smtClean="0"/>
              <a:t>NLP models</a:t>
            </a:r>
          </a:p>
          <a:p>
            <a:pPr marL="171450" indent="-171450">
              <a:buFont typeface="Arial" panose="020B0604020202020204" pitchFamily="34" charset="0"/>
              <a:buChar char="•"/>
            </a:pPr>
            <a:r>
              <a:rPr lang="en-US" dirty="0" smtClean="0"/>
              <a:t>RAG systems</a:t>
            </a:r>
          </a:p>
          <a:p>
            <a:pPr marL="171450" indent="-171450">
              <a:buFont typeface="Arial" panose="020B0604020202020204" pitchFamily="34" charset="0"/>
              <a:buChar char="•"/>
            </a:pPr>
            <a:r>
              <a:rPr lang="en-US" dirty="0" smtClean="0"/>
              <a:t>Graph-based RAG</a:t>
            </a:r>
          </a:p>
          <a:p>
            <a:pPr marL="0" indent="0">
              <a:buFont typeface="Arial" panose="020B0604020202020204" pitchFamily="34" charset="0"/>
              <a:buNone/>
            </a:pPr>
            <a:r>
              <a:rPr lang="en-US" b="1" dirty="0" smtClean="0"/>
              <a:t>Indexing graph construction</a:t>
            </a:r>
            <a:endParaRPr lang="en-US" dirty="0" smtClean="0"/>
          </a:p>
          <a:p>
            <a:pPr marL="171450" indent="-171450">
              <a:buFont typeface="Arial" panose="020B0604020202020204" pitchFamily="34" charset="0"/>
              <a:buChar char="•"/>
            </a:pPr>
            <a:r>
              <a:rPr lang="en-US" b="1" dirty="0" smtClean="0"/>
              <a:t>Nodes (V):</a:t>
            </a:r>
            <a:endParaRPr lang="en-US" dirty="0" smtClean="0"/>
          </a:p>
          <a:p>
            <a:pPr marL="628650" lvl="1" indent="-171450">
              <a:buFont typeface="Arial" panose="020B0604020202020204" pitchFamily="34" charset="0"/>
              <a:buChar char="•"/>
            </a:pPr>
            <a:r>
              <a:rPr lang="en-US" dirty="0" smtClean="0"/>
              <a:t>v₁: (Transformers, t₁ = D1)</a:t>
            </a:r>
          </a:p>
          <a:p>
            <a:pPr marL="628650" lvl="1" indent="-171450">
              <a:buFont typeface="Arial" panose="020B0604020202020204" pitchFamily="34" charset="0"/>
              <a:buChar char="•"/>
            </a:pPr>
            <a:r>
              <a:rPr lang="en-US" dirty="0" smtClean="0"/>
              <a:t>v₂: (RAG systems, t₂ = D2)</a:t>
            </a:r>
          </a:p>
          <a:p>
            <a:pPr marL="628650" lvl="1" indent="-171450">
              <a:buFont typeface="Arial" panose="020B0604020202020204" pitchFamily="34" charset="0"/>
              <a:buChar char="•"/>
            </a:pPr>
            <a:r>
              <a:rPr lang="en-US" dirty="0" smtClean="0"/>
              <a:t>v₃: (Graph-based RAG, t₃ = D3)</a:t>
            </a:r>
          </a:p>
          <a:p>
            <a:pPr marL="171450" indent="-171450">
              <a:buFont typeface="Arial" panose="020B0604020202020204" pitchFamily="34" charset="0"/>
              <a:buChar char="•"/>
            </a:pPr>
            <a:r>
              <a:rPr lang="en-US" b="1" dirty="0" smtClean="0"/>
              <a:t>Edges (E):</a:t>
            </a:r>
            <a:endParaRPr lang="en-US" dirty="0" smtClean="0"/>
          </a:p>
          <a:p>
            <a:pPr marL="628650" lvl="1" indent="-171450">
              <a:buFont typeface="Arial" panose="020B0604020202020204" pitchFamily="34" charset="0"/>
              <a:buChar char="•"/>
            </a:pPr>
            <a:r>
              <a:rPr lang="en-US" dirty="0" smtClean="0"/>
              <a:t>Transformers → </a:t>
            </a:r>
            <a:r>
              <a:rPr lang="en-US" dirty="0" err="1" smtClean="0"/>
              <a:t>used_in</a:t>
            </a:r>
            <a:r>
              <a:rPr lang="en-US" dirty="0" smtClean="0"/>
              <a:t> → NLP models</a:t>
            </a:r>
          </a:p>
          <a:p>
            <a:pPr marL="628650" lvl="1" indent="-171450">
              <a:buFont typeface="Arial" panose="020B0604020202020204" pitchFamily="34" charset="0"/>
              <a:buChar char="•"/>
            </a:pPr>
            <a:r>
              <a:rPr lang="en-US" dirty="0" smtClean="0"/>
              <a:t>RAG systems → </a:t>
            </a:r>
            <a:r>
              <a:rPr lang="en-US" dirty="0" err="1" smtClean="0"/>
              <a:t>related_to</a:t>
            </a:r>
            <a:r>
              <a:rPr lang="en-US" dirty="0" smtClean="0"/>
              <a:t> → Graph-based RAG</a:t>
            </a:r>
          </a:p>
          <a:p>
            <a:pPr marL="171450" indent="-171450">
              <a:buFont typeface="Arial" panose="020B0604020202020204" pitchFamily="34" charset="0"/>
              <a:buChar char="•"/>
            </a:pPr>
            <a:r>
              <a:rPr lang="en-US" b="1" dirty="0" smtClean="0"/>
              <a:t>Edge text (tₑ):</a:t>
            </a:r>
            <a:endParaRPr lang="en-US" dirty="0" smtClean="0"/>
          </a:p>
          <a:p>
            <a:pPr marL="628650" lvl="1" indent="-171450">
              <a:buFont typeface="Arial" panose="020B0604020202020204" pitchFamily="34" charset="0"/>
              <a:buChar char="•"/>
            </a:pPr>
            <a:r>
              <a:rPr lang="en-US" dirty="0" smtClean="0"/>
              <a:t>“used in”, “related to”</a:t>
            </a:r>
          </a:p>
          <a:p>
            <a:pPr marL="0" indent="0">
              <a:buFont typeface="Arial" panose="020B0604020202020204" pitchFamily="34" charset="0"/>
              <a:buNone/>
            </a:pPr>
            <a:r>
              <a:rPr lang="en-US" b="1" dirty="0" smtClean="0"/>
              <a:t>Indexing graph</a:t>
            </a:r>
            <a:endParaRPr lang="en-US" dirty="0" smtClean="0"/>
          </a:p>
          <a:p>
            <a:pPr marL="171450" indent="-171450">
              <a:buFont typeface="Arial" panose="020B0604020202020204" pitchFamily="34" charset="0"/>
              <a:buChar char="•"/>
            </a:pPr>
            <a:r>
              <a:rPr lang="en-US" dirty="0" smtClean="0"/>
              <a:t>G = (V, E, Kᵥ, T)</a:t>
            </a:r>
          </a:p>
          <a:p>
            <a:pPr marL="0" indent="0">
              <a:buFont typeface="Arial" panose="020B0604020202020204" pitchFamily="34" charset="0"/>
              <a:buNone/>
            </a:pPr>
            <a:r>
              <a:rPr lang="en-US" b="1" dirty="0" smtClean="0"/>
              <a:t>User query</a:t>
            </a:r>
            <a:endParaRPr lang="en-US" dirty="0" smtClean="0"/>
          </a:p>
          <a:p>
            <a:pPr marL="171450" indent="-171450">
              <a:buFont typeface="Arial" panose="020B0604020202020204" pitchFamily="34" charset="0"/>
              <a:buChar char="•"/>
            </a:pPr>
            <a:r>
              <a:rPr lang="en-US" i="1" dirty="0" smtClean="0"/>
              <a:t>“How are transformers used in graph-based RAG?”</a:t>
            </a:r>
            <a:endParaRPr lang="en-US" dirty="0" smtClean="0"/>
          </a:p>
          <a:p>
            <a:pPr marL="0" indent="0">
              <a:buFont typeface="Arial" panose="020B0604020202020204" pitchFamily="34" charset="0"/>
              <a:buNone/>
            </a:pPr>
            <a:r>
              <a:rPr lang="en-US" b="1" dirty="0" smtClean="0"/>
              <a:t>Graph-oriented retrieval</a:t>
            </a:r>
            <a:endParaRPr lang="en-US" dirty="0" smtClean="0"/>
          </a:p>
          <a:p>
            <a:pPr marL="171450" indent="-171450">
              <a:buFont typeface="Arial" panose="020B0604020202020204" pitchFamily="34" charset="0"/>
              <a:buChar char="•"/>
            </a:pPr>
            <a:r>
              <a:rPr lang="en-US" dirty="0" smtClean="0"/>
              <a:t>Retrieved nodes: Transformers, RAG systems, Graph-based RAG</a:t>
            </a:r>
          </a:p>
          <a:p>
            <a:pPr marL="171450" indent="-171450">
              <a:buFont typeface="Arial" panose="020B0604020202020204" pitchFamily="34" charset="0"/>
              <a:buChar char="•"/>
            </a:pPr>
            <a:r>
              <a:rPr lang="en-US" dirty="0" smtClean="0"/>
              <a:t>Retrieved edges: Transformers → NLP models, RAG systems → Graph-based RAG</a:t>
            </a:r>
          </a:p>
          <a:p>
            <a:pPr marL="0" indent="0">
              <a:buFont typeface="Arial" panose="020B0604020202020204" pitchFamily="34" charset="0"/>
              <a:buNone/>
            </a:pPr>
            <a:r>
              <a:rPr lang="en-US" b="1" dirty="0" smtClean="0"/>
              <a:t>Retrieved text chunks</a:t>
            </a:r>
            <a:endParaRPr lang="en-US" dirty="0" smtClean="0"/>
          </a:p>
          <a:p>
            <a:pPr marL="171450" indent="-171450">
              <a:buFont typeface="Arial" panose="020B0604020202020204" pitchFamily="34" charset="0"/>
              <a:buChar char="•"/>
            </a:pPr>
            <a:r>
              <a:rPr lang="en-US" dirty="0" smtClean="0"/>
              <a:t>t₁ + t₂ + t₃ + edge descriptions</a:t>
            </a:r>
          </a:p>
          <a:p>
            <a:pPr marL="0" indent="0">
              <a:buFont typeface="Arial" panose="020B0604020202020204" pitchFamily="34" charset="0"/>
              <a:buNone/>
            </a:pPr>
            <a:r>
              <a:rPr lang="en-US" b="1" dirty="0" smtClean="0"/>
              <a:t>Context sent to LLM</a:t>
            </a:r>
            <a:endParaRPr lang="en-US" dirty="0" smtClean="0"/>
          </a:p>
          <a:p>
            <a:pPr marL="171450" indent="-171450">
              <a:buFont typeface="Arial" panose="020B0604020202020204" pitchFamily="34" charset="0"/>
              <a:buChar char="•"/>
            </a:pPr>
            <a:r>
              <a:rPr lang="en-US" dirty="0" smtClean="0"/>
              <a:t>Query + retrieved node text + retrieved edge text</a:t>
            </a:r>
          </a:p>
          <a:p>
            <a:pPr marL="0" indent="0">
              <a:buFont typeface="Arial" panose="020B0604020202020204" pitchFamily="34" charset="0"/>
              <a:buNone/>
            </a:pPr>
            <a:r>
              <a:rPr lang="en-US" b="1" dirty="0" smtClean="0"/>
              <a:t>Output`</a:t>
            </a:r>
            <a:endParaRPr lang="en-US" dirty="0" smtClean="0"/>
          </a:p>
          <a:p>
            <a:pPr marL="171450" indent="-171450">
              <a:buFont typeface="Arial" panose="020B0604020202020204" pitchFamily="34" charset="0"/>
              <a:buChar char="•"/>
            </a:pPr>
            <a:r>
              <a:rPr lang="en-US" dirty="0" smtClean="0"/>
              <a:t>Answer generated using structured graph context.</a:t>
            </a:r>
          </a:p>
          <a:p>
            <a:pPr marL="171450" indent="-171450">
              <a:buFont typeface="Arial" panose="020B0604020202020204" pitchFamily="34" charset="0"/>
              <a:buChar char="•"/>
            </a:pPr>
            <a:endParaRPr lang="en-US" dirty="0" smtClean="0"/>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dirty="0" smtClean="0"/>
              <a:t>In this example, the user query explicitly mentions </a:t>
            </a:r>
            <a:r>
              <a:rPr lang="en-US" b="1" dirty="0" smtClean="0"/>
              <a:t>“transformers”</a:t>
            </a:r>
            <a:r>
              <a:rPr lang="en-US" dirty="0" smtClean="0"/>
              <a:t> and </a:t>
            </a:r>
            <a:r>
              <a:rPr lang="en-US" b="1" dirty="0" smtClean="0"/>
              <a:t>“graph-based RAG”</a:t>
            </a:r>
            <a:r>
              <a:rPr lang="en-US" dirty="0" smtClean="0"/>
              <a:t>, which are first linked to their corresponding nodes in the indexing graph. The graph-oriented retriever then expands beyond these exact matches by following the </a:t>
            </a:r>
            <a:r>
              <a:rPr lang="en-US" b="1" dirty="0" smtClean="0"/>
              <a:t>graph structure</a:t>
            </a:r>
            <a:r>
              <a:rPr lang="en-US" dirty="0" smtClean="0"/>
              <a:t>, identifying nodes that connect the queried entities. As a result, </a:t>
            </a:r>
            <a:r>
              <a:rPr lang="en-US" b="1" dirty="0" smtClean="0"/>
              <a:t>“RAG systems”</a:t>
            </a:r>
            <a:r>
              <a:rPr lang="en-US" dirty="0" smtClean="0"/>
              <a:t> is retrieved because it lies on the path between </a:t>
            </a:r>
            <a:r>
              <a:rPr lang="en-US" i="1" dirty="0" smtClean="0"/>
              <a:t>Transformers</a:t>
            </a:r>
            <a:r>
              <a:rPr lang="en-US" dirty="0" smtClean="0"/>
              <a:t> and </a:t>
            </a:r>
            <a:r>
              <a:rPr lang="en-US" i="1" dirty="0" smtClean="0"/>
              <a:t>Graph-based RAG</a:t>
            </a:r>
            <a:r>
              <a:rPr lang="en-US" dirty="0" smtClean="0"/>
              <a:t>, capturing an implicit relationship that is not stated directly in the query. This graph-based expansion allows the system to retrieve </a:t>
            </a:r>
            <a:r>
              <a:rPr lang="en-US" b="1" dirty="0" smtClean="0"/>
              <a:t>structurally relevant context</a:t>
            </a:r>
            <a:r>
              <a:rPr lang="en-US" dirty="0" smtClean="0"/>
              <a:t>, enabling multi-hop reasoning and producing an answer grounded in how concepts are connected, rather than relying only on keyword overlap.</a:t>
            </a:r>
          </a:p>
          <a:p>
            <a:pPr marL="0" indent="0">
              <a:buFont typeface="Arial" panose="020B0604020202020204" pitchFamily="34" charset="0"/>
              <a:buNone/>
            </a:pPr>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17</a:t>
            </a:fld>
            <a:endParaRPr lang="en-US"/>
          </a:p>
        </p:txBody>
      </p:sp>
    </p:spTree>
    <p:extLst>
      <p:ext uri="{BB962C8B-B14F-4D97-AF65-F5344CB8AC3E}">
        <p14:creationId xmlns:p14="http://schemas.microsoft.com/office/powerpoint/2010/main" val="390297539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Nodes closer to the start node receive more resource, while distant nodes receive less.</a:t>
            </a:r>
          </a:p>
          <a:p>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21</a:t>
            </a:fld>
            <a:endParaRPr lang="en-US"/>
          </a:p>
        </p:txBody>
      </p:sp>
    </p:spTree>
    <p:extLst>
      <p:ext uri="{BB962C8B-B14F-4D97-AF65-F5344CB8AC3E}">
        <p14:creationId xmlns:p14="http://schemas.microsoft.com/office/powerpoint/2010/main" val="28831024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At </a:t>
            </a:r>
            <a:r>
              <a:rPr lang="en-US" b="1" dirty="0" smtClean="0"/>
              <a:t>each hop</a:t>
            </a:r>
            <a:r>
              <a:rPr lang="en-US" dirty="0" smtClean="0"/>
              <a:t>, the resource is multiplied by the decay factor </a:t>
            </a:r>
            <a:r>
              <a:rPr lang="en-US" b="1" dirty="0" smtClean="0"/>
              <a:t>α &lt; 1</a:t>
            </a:r>
            <a:r>
              <a:rPr lang="en-US" dirty="0" smtClean="0"/>
              <a:t>.</a:t>
            </a:r>
          </a:p>
          <a:p>
            <a:r>
              <a:rPr lang="en-US" dirty="0" smtClean="0"/>
              <a:t>The resource is also </a:t>
            </a:r>
            <a:r>
              <a:rPr lang="en-US" b="1" dirty="0" smtClean="0"/>
              <a:t>divided by the out-degree</a:t>
            </a:r>
            <a:r>
              <a:rPr lang="en-US" dirty="0" smtClean="0"/>
              <a:t> of the previous node.</a:t>
            </a:r>
          </a:p>
          <a:p>
            <a:r>
              <a:rPr lang="en-US" dirty="0" smtClean="0"/>
              <a:t>So for a single path, resource roughly scales like:</a:t>
            </a:r>
            <a:br>
              <a:rPr lang="en-US" dirty="0" smtClean="0"/>
            </a:br>
            <a:r>
              <a:rPr lang="en-US" b="1" dirty="0" smtClean="0"/>
              <a:t>S ≈ αᵈ / (product of out-degrees)</a:t>
            </a:r>
            <a:r>
              <a:rPr lang="en-US" dirty="0" smtClean="0"/>
              <a:t>, where </a:t>
            </a:r>
            <a:r>
              <a:rPr lang="en-US" i="1" dirty="0" smtClean="0"/>
              <a:t>d</a:t>
            </a:r>
            <a:r>
              <a:rPr lang="en-US" dirty="0" smtClean="0"/>
              <a:t> is path length.</a:t>
            </a:r>
          </a:p>
          <a:p>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22</a:t>
            </a:fld>
            <a:endParaRPr lang="en-US"/>
          </a:p>
        </p:txBody>
      </p:sp>
    </p:spTree>
    <p:extLst>
      <p:ext uri="{BB962C8B-B14F-4D97-AF65-F5344CB8AC3E}">
        <p14:creationId xmlns:p14="http://schemas.microsoft.com/office/powerpoint/2010/main" val="20260999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smtClean="0"/>
              <a:t>Slide 3: Effect of Early Stopping</a:t>
            </a:r>
          </a:p>
          <a:p>
            <a:r>
              <a:rPr lang="en-US" dirty="0" smtClean="0"/>
              <a:t>Nodes with </a:t>
            </a:r>
            <a:r>
              <a:rPr lang="en-US" b="1" dirty="0" smtClean="0"/>
              <a:t>low contribution</a:t>
            </a:r>
            <a:r>
              <a:rPr lang="en-US" dirty="0" smtClean="0"/>
              <a:t> are removed early.</a:t>
            </a:r>
          </a:p>
          <a:p>
            <a:r>
              <a:rPr lang="en-US" dirty="0" smtClean="0"/>
              <a:t>Prevents propagation through </a:t>
            </a:r>
            <a:r>
              <a:rPr lang="en-US" b="1" dirty="0" smtClean="0"/>
              <a:t>deep or weakly connected regions</a:t>
            </a:r>
            <a:r>
              <a:rPr lang="en-US" dirty="0" smtClean="0"/>
              <a:t> of the graph.</a:t>
            </a:r>
          </a:p>
          <a:p>
            <a:r>
              <a:rPr lang="en-US" dirty="0" smtClean="0"/>
              <a:t>Improves both </a:t>
            </a:r>
            <a:r>
              <a:rPr lang="en-US" b="1" dirty="0" smtClean="0"/>
              <a:t>efficiency</a:t>
            </a:r>
            <a:r>
              <a:rPr lang="en-US" dirty="0" smtClean="0"/>
              <a:t> and </a:t>
            </a:r>
            <a:r>
              <a:rPr lang="en-US" b="1" dirty="0" smtClean="0"/>
              <a:t>retrieval quality</a:t>
            </a:r>
            <a:r>
              <a:rPr lang="en-US" dirty="0" smtClean="0"/>
              <a:t>.</a:t>
            </a:r>
          </a:p>
          <a:p>
            <a:r>
              <a:rPr lang="en-US" b="1" dirty="0" smtClean="0"/>
              <a:t>Slide 4: Key Benefit</a:t>
            </a:r>
          </a:p>
          <a:p>
            <a:r>
              <a:rPr lang="en-US" dirty="0" smtClean="0"/>
              <a:t>Ensures the algorithm </a:t>
            </a:r>
            <a:r>
              <a:rPr lang="en-US" b="1" dirty="0" smtClean="0"/>
              <a:t>terminates early</a:t>
            </a:r>
            <a:r>
              <a:rPr lang="en-US" dirty="0" smtClean="0"/>
              <a:t> for unimportant paths.</a:t>
            </a:r>
          </a:p>
          <a:p>
            <a:r>
              <a:rPr lang="en-US" dirty="0" smtClean="0"/>
              <a:t>Focuses retrieval on </a:t>
            </a:r>
            <a:r>
              <a:rPr lang="en-US" b="1" dirty="0" smtClean="0"/>
              <a:t>high-impact nodes and paths</a:t>
            </a:r>
            <a:r>
              <a:rPr lang="en-US" dirty="0" smtClean="0"/>
              <a:t>.</a:t>
            </a:r>
          </a:p>
          <a:p>
            <a:r>
              <a:rPr lang="en-US" dirty="0" smtClean="0"/>
              <a:t>Works naturally with the </a:t>
            </a:r>
            <a:r>
              <a:rPr lang="en-US" b="1" dirty="0" smtClean="0"/>
              <a:t>distance-aware resource propagation</a:t>
            </a:r>
            <a:r>
              <a:rPr lang="en-US" dirty="0" smtClean="0"/>
              <a:t> mechanism.</a:t>
            </a:r>
          </a:p>
          <a:p>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24</a:t>
            </a:fld>
            <a:endParaRPr lang="en-US"/>
          </a:p>
        </p:txBody>
      </p:sp>
    </p:spTree>
    <p:extLst>
      <p:ext uri="{BB962C8B-B14F-4D97-AF65-F5344CB8AC3E}">
        <p14:creationId xmlns:p14="http://schemas.microsoft.com/office/powerpoint/2010/main" val="208065202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Intuitively, </a:t>
            </a:r>
            <a:r>
              <a:rPr lang="en-US" b="1" dirty="0" smtClean="0"/>
              <a:t>S(P)S(P)S(P)</a:t>
            </a:r>
            <a:r>
              <a:rPr lang="en-US" dirty="0" smtClean="0"/>
              <a:t> answers one simple question:</a:t>
            </a:r>
          </a:p>
          <a:p>
            <a:r>
              <a:rPr lang="en-US" b="1" dirty="0" smtClean="0"/>
              <a:t>“How strong is this path overall?”</a:t>
            </a:r>
            <a:endParaRPr lang="en-US" dirty="0" smtClean="0"/>
          </a:p>
          <a:p>
            <a:r>
              <a:rPr lang="en-US" dirty="0" smtClean="0"/>
              <a:t>Here’s how to think about it step by step.</a:t>
            </a:r>
          </a:p>
          <a:p>
            <a:r>
              <a:rPr lang="en-US" dirty="0" smtClean="0"/>
              <a:t>Each node </a:t>
            </a:r>
            <a:r>
              <a:rPr lang="en-US" b="1" dirty="0" err="1" smtClean="0"/>
              <a:t>viv_ivi</a:t>
            </a:r>
            <a:r>
              <a:rPr lang="en-US" b="1" dirty="0" smtClean="0"/>
              <a:t>​</a:t>
            </a:r>
            <a:r>
              <a:rPr lang="en-US" dirty="0" smtClean="0"/>
              <a:t> already has a </a:t>
            </a:r>
            <a:r>
              <a:rPr lang="en-US" b="1" dirty="0" smtClean="0"/>
              <a:t>resource score S(vi)S(</a:t>
            </a:r>
            <a:r>
              <a:rPr lang="en-US" b="1" dirty="0" err="1" smtClean="0"/>
              <a:t>v_i</a:t>
            </a:r>
            <a:r>
              <a:rPr lang="en-US" b="1" dirty="0" smtClean="0"/>
              <a:t>)S(vi​)</a:t>
            </a:r>
            <a:r>
              <a:rPr lang="en-US" dirty="0" smtClean="0"/>
              <a:t> that tells us how relevant or important it is with respect to the query.</a:t>
            </a:r>
          </a:p>
          <a:p>
            <a:r>
              <a:rPr lang="en-US" dirty="0" smtClean="0"/>
              <a:t>A path </a:t>
            </a:r>
            <a:r>
              <a:rPr lang="en-US" b="1" dirty="0" smtClean="0"/>
              <a:t>P</a:t>
            </a:r>
            <a:r>
              <a:rPr lang="en-US" dirty="0" smtClean="0"/>
              <a:t> is just a chain of these nodes. Some paths pass through </a:t>
            </a:r>
            <a:r>
              <a:rPr lang="en-US" b="1" dirty="0" smtClean="0"/>
              <a:t>high-resource nodes</a:t>
            </a:r>
            <a:r>
              <a:rPr lang="en-US" dirty="0" smtClean="0"/>
              <a:t>, others go through weak, low-resource ones.</a:t>
            </a:r>
          </a:p>
          <a:p>
            <a:r>
              <a:rPr lang="en-US" dirty="0" smtClean="0"/>
              <a:t>The formula </a:t>
            </a:r>
            <a:r>
              <a:rPr lang="en-US" b="1" dirty="0" smtClean="0"/>
              <a:t>adds up the resource values of all nodes on the path</a:t>
            </a:r>
            <a:r>
              <a:rPr lang="en-US" dirty="0" smtClean="0"/>
              <a:t> and then </a:t>
            </a:r>
            <a:r>
              <a:rPr lang="en-US" b="1" dirty="0" smtClean="0"/>
              <a:t>divides by the number of edges</a:t>
            </a:r>
            <a:r>
              <a:rPr lang="en-US" dirty="0" smtClean="0"/>
              <a:t>.</a:t>
            </a:r>
          </a:p>
          <a:p>
            <a:r>
              <a:rPr lang="en-US" dirty="0" smtClean="0"/>
              <a:t>So:</a:t>
            </a:r>
          </a:p>
          <a:p>
            <a:r>
              <a:rPr lang="en-US" dirty="0" smtClean="0"/>
              <a:t>If a path goes through </a:t>
            </a:r>
            <a:r>
              <a:rPr lang="en-US" b="1" dirty="0" smtClean="0"/>
              <a:t>consistently strong nodes</a:t>
            </a:r>
            <a:r>
              <a:rPr lang="en-US" dirty="0" smtClean="0"/>
              <a:t>, its average stays high → </a:t>
            </a:r>
            <a:r>
              <a:rPr lang="en-US" b="1" dirty="0" smtClean="0"/>
              <a:t>reliable path</a:t>
            </a:r>
            <a:r>
              <a:rPr lang="en-US" dirty="0" smtClean="0"/>
              <a:t>.</a:t>
            </a:r>
          </a:p>
          <a:p>
            <a:r>
              <a:rPr lang="en-US" dirty="0" smtClean="0"/>
              <a:t>If a path includes </a:t>
            </a:r>
            <a:r>
              <a:rPr lang="en-US" b="1" dirty="0" smtClean="0"/>
              <a:t>weak or distant nodes</a:t>
            </a:r>
            <a:r>
              <a:rPr lang="en-US" dirty="0" smtClean="0"/>
              <a:t>, the average drops → </a:t>
            </a:r>
            <a:r>
              <a:rPr lang="en-US" b="1" dirty="0" smtClean="0"/>
              <a:t>unreliable path</a:t>
            </a:r>
            <a:r>
              <a:rPr lang="en-US" dirty="0" smtClean="0"/>
              <a:t>.</a:t>
            </a:r>
          </a:p>
          <a:p>
            <a:r>
              <a:rPr lang="en-US" dirty="0" smtClean="0"/>
              <a:t>Longer paths are naturally penalized, because spreading the same total resource over more edges lowers the average.</a:t>
            </a:r>
          </a:p>
          <a:p>
            <a:r>
              <a:rPr lang="en-US" dirty="0" smtClean="0"/>
              <a:t>In short, </a:t>
            </a:r>
            <a:r>
              <a:rPr lang="en-US" b="1" dirty="0" smtClean="0"/>
              <a:t>S(P)S(P)S(P)</a:t>
            </a:r>
            <a:r>
              <a:rPr lang="en-US" dirty="0" smtClean="0"/>
              <a:t> prefers paths that are </a:t>
            </a:r>
            <a:r>
              <a:rPr lang="en-US" b="1" dirty="0" smtClean="0"/>
              <a:t>short, well-connected, and pass through important nodes</a:t>
            </a:r>
            <a:r>
              <a:rPr lang="en-US" dirty="0" smtClean="0"/>
              <a:t>, without needing a hard hop limit.</a:t>
            </a:r>
          </a:p>
          <a:p>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25</a:t>
            </a:fld>
            <a:endParaRPr lang="en-US"/>
          </a:p>
        </p:txBody>
      </p:sp>
    </p:spTree>
    <p:extLst>
      <p:ext uri="{BB962C8B-B14F-4D97-AF65-F5344CB8AC3E}">
        <p14:creationId xmlns:p14="http://schemas.microsoft.com/office/powerpoint/2010/main" val="35586587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Node text provides </a:t>
            </a:r>
            <a:r>
              <a:rPr lang="en-US" b="1" dirty="0" smtClean="0"/>
              <a:t>entity-specific information</a:t>
            </a:r>
            <a:r>
              <a:rPr lang="en-US" dirty="0" smtClean="0"/>
              <a:t>.</a:t>
            </a:r>
          </a:p>
          <a:p>
            <a:r>
              <a:rPr lang="en-US" dirty="0" smtClean="0"/>
              <a:t>Edge text provides </a:t>
            </a:r>
            <a:r>
              <a:rPr lang="en-US" b="1" dirty="0" smtClean="0"/>
              <a:t>relational context</a:t>
            </a:r>
            <a:r>
              <a:rPr lang="en-US" dirty="0" smtClean="0"/>
              <a:t>.</a:t>
            </a:r>
          </a:p>
          <a:p>
            <a:r>
              <a:rPr lang="en-US" dirty="0" smtClean="0"/>
              <a:t>Concatenation preserves the </a:t>
            </a:r>
            <a:r>
              <a:rPr lang="en-US" b="1" dirty="0" smtClean="0"/>
              <a:t>order of the path</a:t>
            </a:r>
            <a:r>
              <a:rPr lang="en-US" dirty="0" smtClean="0"/>
              <a:t>, forming a coherent relational narrative</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26</a:t>
            </a:fld>
            <a:endParaRPr lang="en-US"/>
          </a:p>
        </p:txBody>
      </p:sp>
    </p:spTree>
    <p:extLst>
      <p:ext uri="{BB962C8B-B14F-4D97-AF65-F5344CB8AC3E}">
        <p14:creationId xmlns:p14="http://schemas.microsoft.com/office/powerpoint/2010/main" val="264520907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27</a:t>
            </a:fld>
            <a:endParaRPr lang="en-US"/>
          </a:p>
        </p:txBody>
      </p:sp>
    </p:spTree>
    <p:extLst>
      <p:ext uri="{BB962C8B-B14F-4D97-AF65-F5344CB8AC3E}">
        <p14:creationId xmlns:p14="http://schemas.microsoft.com/office/powerpoint/2010/main" val="31583864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ADAEC364-F6D2-4B7A-899D-57D051C78254}" type="slidenum">
              <a:rPr lang="en-US" smtClean="0"/>
              <a:t>31</a:t>
            </a:fld>
            <a:endParaRPr lang="en-US"/>
          </a:p>
        </p:txBody>
      </p:sp>
    </p:spTree>
    <p:extLst>
      <p:ext uri="{BB962C8B-B14F-4D97-AF65-F5344CB8AC3E}">
        <p14:creationId xmlns:p14="http://schemas.microsoft.com/office/powerpoint/2010/main" val="14948067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30BE1F47-1787-40C2-AA6F-9BC1CE6E7E0B}" type="datetimeFigureOut">
              <a:rPr lang="en-US" smtClean="0"/>
              <a:t>1/28/2026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18436206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0BE1F47-1787-40C2-AA6F-9BC1CE6E7E0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24924788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30BE1F47-1787-40C2-AA6F-9BC1CE6E7E0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5273177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0BE1F47-1787-40C2-AA6F-9BC1CE6E7E0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282797646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0BE1F47-1787-40C2-AA6F-9BC1CE6E7E0B}"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2851224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0BE1F47-1787-40C2-AA6F-9BC1CE6E7E0B}"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19391847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BE1F47-1787-40C2-AA6F-9BC1CE6E7E0B}"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21463132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BE1F47-1787-40C2-AA6F-9BC1CE6E7E0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362409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BE1F47-1787-40C2-AA6F-9BC1CE6E7E0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25484430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smtClean="0"/>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BE1F47-1787-40C2-AA6F-9BC1CE6E7E0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2081732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BE1F47-1787-40C2-AA6F-9BC1CE6E7E0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232123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BE1F47-1787-40C2-AA6F-9BC1CE6E7E0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68DA4D-DFE4-4AE9-97A8-3A7AB8E3859B}"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1384944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smtClean="0"/>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30BE1F47-1787-40C2-AA6F-9BC1CE6E7E0B}"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28193995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30BE1F47-1787-40C2-AA6F-9BC1CE6E7E0B}"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47900987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smtClean="0"/>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30BE1F47-1787-40C2-AA6F-9BC1CE6E7E0B}"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387325365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0BE1F47-1787-40C2-AA6F-9BC1CE6E7E0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123713914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0BE1F47-1787-40C2-AA6F-9BC1CE6E7E0B}"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768DA4D-DFE4-4AE9-97A8-3A7AB8E3859B}" type="slidenum">
              <a:rPr lang="en-US" smtClean="0"/>
              <a:t>‹#›</a:t>
            </a:fld>
            <a:endParaRPr lang="en-US"/>
          </a:p>
        </p:txBody>
      </p:sp>
    </p:spTree>
    <p:extLst>
      <p:ext uri="{BB962C8B-B14F-4D97-AF65-F5344CB8AC3E}">
        <p14:creationId xmlns:p14="http://schemas.microsoft.com/office/powerpoint/2010/main" val="722354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0BE1F47-1787-40C2-AA6F-9BC1CE6E7E0B}" type="datetimeFigureOut">
              <a:rPr lang="en-US" smtClean="0"/>
              <a:t>1/28/2026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B768DA4D-DFE4-4AE9-97A8-3A7AB8E3859B}" type="slidenum">
              <a:rPr lang="en-US" smtClean="0"/>
              <a:t>‹#›</a:t>
            </a:fld>
            <a:endParaRPr lang="en-US"/>
          </a:p>
        </p:txBody>
      </p:sp>
    </p:spTree>
    <p:extLst>
      <p:ext uri="{BB962C8B-B14F-4D97-AF65-F5344CB8AC3E}">
        <p14:creationId xmlns:p14="http://schemas.microsoft.com/office/powerpoint/2010/main" val="2915017238"/>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 id="2147483714" r:id="rId12"/>
    <p:sldLayoutId id="2147483715" r:id="rId13"/>
    <p:sldLayoutId id="2147483716" r:id="rId14"/>
    <p:sldLayoutId id="2147483717" r:id="rId15"/>
    <p:sldLayoutId id="2147483718" r:id="rId16"/>
    <p:sldLayoutId id="214748371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9.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876422" y="1908652"/>
            <a:ext cx="8791575" cy="1438567"/>
          </a:xfrm>
        </p:spPr>
        <p:txBody>
          <a:bodyPr>
            <a:noAutofit/>
          </a:bodyPr>
          <a:lstStyle/>
          <a:p>
            <a:pPr algn="ctr"/>
            <a:r>
              <a:rPr lang="en-US" sz="6000" cap="none" dirty="0" smtClean="0">
                <a:latin typeface="Inter"/>
              </a:rPr>
              <a:t>PATH-RAG: </a:t>
            </a:r>
            <a:br>
              <a:rPr lang="en-US" sz="6000" cap="none" dirty="0" smtClean="0">
                <a:latin typeface="Inter"/>
              </a:rPr>
            </a:br>
            <a:r>
              <a:rPr lang="en-US" sz="3600" cap="none" dirty="0" smtClean="0">
                <a:latin typeface="Inter"/>
              </a:rPr>
              <a:t>reasoning over knowledge paths</a:t>
            </a:r>
            <a:endParaRPr lang="en-US" sz="3600" cap="none" dirty="0">
              <a:latin typeface="Inter"/>
            </a:endParaRPr>
          </a:p>
        </p:txBody>
      </p:sp>
      <p:sp>
        <p:nvSpPr>
          <p:cNvPr id="3" name="Subtitle 2"/>
          <p:cNvSpPr>
            <a:spLocks noGrp="1"/>
          </p:cNvSpPr>
          <p:nvPr>
            <p:ph type="subTitle" idx="1"/>
          </p:nvPr>
        </p:nvSpPr>
        <p:spPr>
          <a:xfrm>
            <a:off x="1876422" y="4145600"/>
            <a:ext cx="8791575" cy="1655762"/>
          </a:xfrm>
        </p:spPr>
        <p:txBody>
          <a:bodyPr>
            <a:normAutofit/>
          </a:bodyPr>
          <a:lstStyle/>
          <a:p>
            <a:r>
              <a:rPr lang="en-US" sz="3200" cap="none" dirty="0" smtClean="0"/>
              <a:t>By </a:t>
            </a:r>
            <a:r>
              <a:rPr lang="en-US" sz="3200" cap="none" dirty="0" err="1" smtClean="0"/>
              <a:t>Koorosh</a:t>
            </a:r>
            <a:r>
              <a:rPr lang="en-US" sz="3200" cap="none" dirty="0" smtClean="0"/>
              <a:t> </a:t>
            </a:r>
            <a:r>
              <a:rPr lang="en-US" sz="3200" cap="none" dirty="0" err="1" smtClean="0"/>
              <a:t>Asil</a:t>
            </a:r>
            <a:endParaRPr lang="en-US" sz="3200" cap="none" dirty="0"/>
          </a:p>
        </p:txBody>
      </p:sp>
    </p:spTree>
    <p:extLst>
      <p:ext uri="{BB962C8B-B14F-4D97-AF65-F5344CB8AC3E}">
        <p14:creationId xmlns:p14="http://schemas.microsoft.com/office/powerpoint/2010/main" val="207690137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273286"/>
            <a:ext cx="9905998" cy="725900"/>
          </a:xfrm>
        </p:spPr>
        <p:txBody>
          <a:bodyPr/>
          <a:lstStyle/>
          <a:p>
            <a:r>
              <a:rPr lang="en-US" cap="none" dirty="0" smtClean="0">
                <a:solidFill>
                  <a:srgbClr val="FF3399"/>
                </a:solidFill>
              </a:rPr>
              <a:t>Introduction:</a:t>
            </a:r>
            <a:endParaRPr lang="en-US" cap="none" dirty="0">
              <a:solidFill>
                <a:srgbClr val="FF3399"/>
              </a:solidFill>
            </a:endParaRPr>
          </a:p>
        </p:txBody>
      </p:sp>
      <p:sp>
        <p:nvSpPr>
          <p:cNvPr id="3" name="Content Placeholder 2"/>
          <p:cNvSpPr>
            <a:spLocks noGrp="1"/>
          </p:cNvSpPr>
          <p:nvPr>
            <p:ph idx="1"/>
          </p:nvPr>
        </p:nvSpPr>
        <p:spPr>
          <a:xfrm>
            <a:off x="1141412" y="1158616"/>
            <a:ext cx="10456539" cy="5092894"/>
          </a:xfrm>
        </p:spPr>
        <p:txBody>
          <a:bodyPr>
            <a:normAutofit/>
          </a:bodyPr>
          <a:lstStyle/>
          <a:p>
            <a:pPr algn="just"/>
            <a:r>
              <a:rPr lang="en-US" sz="2600" dirty="0" smtClean="0"/>
              <a:t>RAG empowers LLMs to </a:t>
            </a:r>
            <a:r>
              <a:rPr lang="en-US" sz="2600" dirty="0"/>
              <a:t>access </a:t>
            </a:r>
            <a:r>
              <a:rPr lang="en-US" sz="2600" dirty="0" smtClean="0"/>
              <a:t>domain-specific </a:t>
            </a:r>
            <a:r>
              <a:rPr lang="en-US" sz="2600" dirty="0"/>
              <a:t>knowledge from </a:t>
            </a:r>
            <a:r>
              <a:rPr lang="en-US" sz="2600" dirty="0" smtClean="0"/>
              <a:t>external databases</a:t>
            </a:r>
            <a:r>
              <a:rPr lang="en-US" sz="2600" dirty="0"/>
              <a:t>, enhancing the response </a:t>
            </a:r>
            <a:r>
              <a:rPr lang="en-US" sz="2600" dirty="0" smtClean="0"/>
              <a:t>quality without additional training.</a:t>
            </a:r>
          </a:p>
          <a:p>
            <a:pPr algn="just"/>
            <a:r>
              <a:rPr lang="en-US" sz="2600" dirty="0"/>
              <a:t>Most </a:t>
            </a:r>
            <a:r>
              <a:rPr lang="en-US" sz="2600" dirty="0" smtClean="0"/>
              <a:t>RAG approaches </a:t>
            </a:r>
            <a:r>
              <a:rPr lang="en-US" sz="2600" dirty="0"/>
              <a:t>divide the text database into chunks</a:t>
            </a:r>
            <a:r>
              <a:rPr lang="en-US" sz="2600" dirty="0" smtClean="0"/>
              <a:t>, organizing </a:t>
            </a:r>
            <a:r>
              <a:rPr lang="en-US" sz="2600" dirty="0"/>
              <a:t>them in a flat structure to facilitate </a:t>
            </a:r>
            <a:r>
              <a:rPr lang="en-US" sz="2600" dirty="0" smtClean="0"/>
              <a:t>efficient and precise searches</a:t>
            </a:r>
          </a:p>
          <a:p>
            <a:pPr algn="just"/>
            <a:r>
              <a:rPr lang="en-US" sz="2600" dirty="0"/>
              <a:t>To better capture the inherent </a:t>
            </a:r>
            <a:r>
              <a:rPr lang="en-US" sz="2600" dirty="0" smtClean="0"/>
              <a:t>dependencies and </a:t>
            </a:r>
            <a:r>
              <a:rPr lang="en-US" sz="2600" dirty="0"/>
              <a:t>structured relationships across texts in </a:t>
            </a:r>
            <a:r>
              <a:rPr lang="en-US" sz="2600" dirty="0" smtClean="0"/>
              <a:t>a database</a:t>
            </a:r>
            <a:r>
              <a:rPr lang="en-US" sz="2600" dirty="0"/>
              <a:t>, researchers </a:t>
            </a:r>
            <a:r>
              <a:rPr lang="en-US" sz="2600" dirty="0" smtClean="0"/>
              <a:t>use graph-based</a:t>
            </a:r>
            <a:r>
              <a:rPr lang="en-US" sz="2600" dirty="0"/>
              <a:t> </a:t>
            </a:r>
            <a:r>
              <a:rPr lang="en-US" sz="2600" dirty="0" smtClean="0"/>
              <a:t>RAG, which organizes textual </a:t>
            </a:r>
            <a:r>
              <a:rPr lang="en-US" sz="2600" dirty="0"/>
              <a:t>information into an indexing </a:t>
            </a:r>
            <a:r>
              <a:rPr lang="en-US" sz="2600" dirty="0" smtClean="0"/>
              <a:t>graph.</a:t>
            </a:r>
          </a:p>
          <a:p>
            <a:pPr algn="just"/>
            <a:r>
              <a:rPr lang="en-US" sz="2600" dirty="0"/>
              <a:t>In this graph, nodes represent entities </a:t>
            </a:r>
            <a:r>
              <a:rPr lang="en-US" sz="2600" dirty="0" smtClean="0"/>
              <a:t>extracted from </a:t>
            </a:r>
            <a:r>
              <a:rPr lang="en-US" sz="2600" dirty="0"/>
              <a:t>the text, while edges denote the </a:t>
            </a:r>
            <a:r>
              <a:rPr lang="en-US" sz="2600" dirty="0" smtClean="0"/>
              <a:t>relationships between </a:t>
            </a:r>
            <a:r>
              <a:rPr lang="en-US" sz="2600" dirty="0"/>
              <a:t>these </a:t>
            </a:r>
            <a:r>
              <a:rPr lang="en-US" sz="2600" dirty="0" smtClean="0"/>
              <a:t>entities.</a:t>
            </a:r>
            <a:endParaRPr lang="en-US" sz="2600" dirty="0"/>
          </a:p>
        </p:txBody>
      </p:sp>
    </p:spTree>
    <p:extLst>
      <p:ext uri="{BB962C8B-B14F-4D97-AF65-F5344CB8AC3E}">
        <p14:creationId xmlns:p14="http://schemas.microsoft.com/office/powerpoint/2010/main" val="83374654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1478570"/>
          </a:xfrm>
        </p:spPr>
        <p:txBody>
          <a:bodyPr>
            <a:normAutofit/>
          </a:bodyPr>
          <a:lstStyle/>
          <a:p>
            <a:r>
              <a:rPr lang="en-US" sz="4000" cap="none" dirty="0" smtClean="0">
                <a:solidFill>
                  <a:srgbClr val="9900CC"/>
                </a:solidFill>
              </a:rPr>
              <a:t>graph-rag VS traditional rag ?</a:t>
            </a:r>
            <a:endParaRPr lang="en-US" sz="4000" cap="none" dirty="0">
              <a:solidFill>
                <a:srgbClr val="9900CC"/>
              </a:solidFill>
            </a:endParaRPr>
          </a:p>
        </p:txBody>
      </p:sp>
      <p:sp>
        <p:nvSpPr>
          <p:cNvPr id="3" name="Content Placeholder 2"/>
          <p:cNvSpPr>
            <a:spLocks noGrp="1"/>
          </p:cNvSpPr>
          <p:nvPr>
            <p:ph idx="1"/>
          </p:nvPr>
        </p:nvSpPr>
        <p:spPr>
          <a:xfrm>
            <a:off x="1141412" y="1211455"/>
            <a:ext cx="10382106" cy="5449117"/>
          </a:xfrm>
        </p:spPr>
        <p:txBody>
          <a:bodyPr>
            <a:noAutofit/>
          </a:bodyPr>
          <a:lstStyle/>
          <a:p>
            <a:pPr algn="just"/>
            <a:r>
              <a:rPr lang="en-US" sz="2600" dirty="0"/>
              <a:t>Traditional RAG </a:t>
            </a:r>
            <a:r>
              <a:rPr lang="en-US" sz="2600" dirty="0" smtClean="0"/>
              <a:t>usually </a:t>
            </a:r>
            <a:r>
              <a:rPr lang="en-US" sz="2600" dirty="0"/>
              <a:t>focuses on questions that can be </a:t>
            </a:r>
            <a:r>
              <a:rPr lang="en-US" sz="2600" dirty="0" smtClean="0"/>
              <a:t>answered with </a:t>
            </a:r>
            <a:r>
              <a:rPr lang="en-US" sz="2600" dirty="0"/>
              <a:t>local information about a single entity or </a:t>
            </a:r>
            <a:r>
              <a:rPr lang="en-US" sz="2600" dirty="0" smtClean="0"/>
              <a:t>relationship. </a:t>
            </a:r>
          </a:p>
          <a:p>
            <a:pPr algn="just"/>
            <a:r>
              <a:rPr lang="en-US" sz="2600" dirty="0" smtClean="0"/>
              <a:t>In </a:t>
            </a:r>
            <a:r>
              <a:rPr lang="en-US" sz="2600" dirty="0"/>
              <a:t>contrast, graph-based RAG </a:t>
            </a:r>
            <a:r>
              <a:rPr lang="en-US" sz="2600" dirty="0" smtClean="0"/>
              <a:t>targets on </a:t>
            </a:r>
            <a:r>
              <a:rPr lang="en-US" sz="2600" dirty="0"/>
              <a:t>global-level questions that need the </a:t>
            </a:r>
            <a:r>
              <a:rPr lang="en-US" sz="2600" dirty="0" smtClean="0"/>
              <a:t>information across </a:t>
            </a:r>
            <a:r>
              <a:rPr lang="en-US" sz="2600" dirty="0"/>
              <a:t>a database to generate a </a:t>
            </a:r>
            <a:r>
              <a:rPr lang="en-US" sz="2600" dirty="0" smtClean="0"/>
              <a:t>summary-like response.</a:t>
            </a:r>
          </a:p>
          <a:p>
            <a:pPr algn="just"/>
            <a:r>
              <a:rPr lang="en-US" sz="2600" dirty="0"/>
              <a:t>For example, </a:t>
            </a:r>
            <a:r>
              <a:rPr lang="en-US" sz="2600" dirty="0" err="1" smtClean="0"/>
              <a:t>GraphRAG</a:t>
            </a:r>
            <a:r>
              <a:rPr lang="en-US" sz="2600" dirty="0" smtClean="0"/>
              <a:t> first </a:t>
            </a:r>
            <a:r>
              <a:rPr lang="en-US" sz="2600" dirty="0"/>
              <a:t>applies community detection on </a:t>
            </a:r>
            <a:r>
              <a:rPr lang="en-US" sz="2600" dirty="0" smtClean="0"/>
              <a:t>the graph</a:t>
            </a:r>
            <a:r>
              <a:rPr lang="en-US" sz="2600" dirty="0"/>
              <a:t>, and then gradually summarizes the </a:t>
            </a:r>
            <a:r>
              <a:rPr lang="en-US" sz="2600" dirty="0" smtClean="0"/>
              <a:t>information in </a:t>
            </a:r>
            <a:r>
              <a:rPr lang="en-US" sz="2600" dirty="0"/>
              <a:t>each community</a:t>
            </a:r>
            <a:r>
              <a:rPr lang="en-US" sz="2600" dirty="0" smtClean="0"/>
              <a:t>.</a:t>
            </a:r>
          </a:p>
          <a:p>
            <a:pPr algn="just"/>
            <a:r>
              <a:rPr lang="en-US" sz="2600" dirty="0"/>
              <a:t>However, we argue that the information </a:t>
            </a:r>
            <a:r>
              <a:rPr lang="en-US" sz="2600" dirty="0" smtClean="0"/>
              <a:t>considered in </a:t>
            </a:r>
            <a:r>
              <a:rPr lang="en-US" sz="2600" dirty="0"/>
              <a:t>previous graph-based </a:t>
            </a:r>
            <a:r>
              <a:rPr lang="en-US" sz="2600" dirty="0" smtClean="0"/>
              <a:t>RAG methods </a:t>
            </a:r>
            <a:r>
              <a:rPr lang="en-US" sz="2600" dirty="0"/>
              <a:t>is </a:t>
            </a:r>
            <a:r>
              <a:rPr lang="en-US" sz="2600" dirty="0" smtClean="0"/>
              <a:t>often redundant</a:t>
            </a:r>
            <a:r>
              <a:rPr lang="en-US" sz="2600" dirty="0"/>
              <a:t>, which can introduce noise, </a:t>
            </a:r>
            <a:r>
              <a:rPr lang="en-US" sz="2600" dirty="0" smtClean="0"/>
              <a:t>degrade model </a:t>
            </a:r>
            <a:r>
              <a:rPr lang="en-US" sz="2600" dirty="0"/>
              <a:t>performance, and increase token </a:t>
            </a:r>
            <a:r>
              <a:rPr lang="en-US" sz="2600" dirty="0" smtClean="0"/>
              <a:t>consumption</a:t>
            </a:r>
            <a:r>
              <a:rPr lang="en-US" sz="2600" dirty="0"/>
              <a:t>.</a:t>
            </a:r>
            <a:endParaRPr lang="en-US" sz="2600" dirty="0" smtClean="0"/>
          </a:p>
        </p:txBody>
      </p:sp>
    </p:spTree>
    <p:extLst>
      <p:ext uri="{BB962C8B-B14F-4D97-AF65-F5344CB8AC3E}">
        <p14:creationId xmlns:p14="http://schemas.microsoft.com/office/powerpoint/2010/main" val="54154021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44009" y="5460059"/>
            <a:ext cx="9831674" cy="914402"/>
          </a:xfrm>
        </p:spPr>
        <p:txBody>
          <a:bodyPr>
            <a:normAutofit/>
          </a:bodyPr>
          <a:lstStyle/>
          <a:p>
            <a:r>
              <a:rPr lang="en-US" sz="2400" dirty="0"/>
              <a:t>Figure 1: Comparison between different </a:t>
            </a:r>
            <a:r>
              <a:rPr lang="en-US" sz="2400" dirty="0" smtClean="0"/>
              <a:t>graph-based RAG </a:t>
            </a:r>
            <a:r>
              <a:rPr lang="en-US" sz="2400" dirty="0"/>
              <a:t>methods.</a:t>
            </a:r>
          </a:p>
        </p:txBody>
      </p:sp>
      <p:pic>
        <p:nvPicPr>
          <p:cNvPr id="4" name="Content Placeholder 3"/>
          <p:cNvPicPr>
            <a:picLocks noGrp="1" noChangeAspect="1"/>
          </p:cNvPicPr>
          <p:nvPr>
            <p:ph idx="1"/>
          </p:nvPr>
        </p:nvPicPr>
        <p:blipFill>
          <a:blip r:embed="rId3"/>
          <a:stretch>
            <a:fillRect/>
          </a:stretch>
        </p:blipFill>
        <p:spPr>
          <a:xfrm>
            <a:off x="1892595" y="510363"/>
            <a:ext cx="8006317" cy="4848446"/>
          </a:xfrm>
          <a:prstGeom prst="rect">
            <a:avLst/>
          </a:prstGeom>
          <a:ln>
            <a:solidFill>
              <a:schemeClr val="tx2"/>
            </a:solid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2">
              <a:shade val="50000"/>
            </a:schemeClr>
          </a:lnRef>
          <a:fillRef idx="1">
            <a:schemeClr val="accent2"/>
          </a:fillRef>
          <a:effectRef idx="0">
            <a:schemeClr val="accent2"/>
          </a:effectRef>
          <a:fontRef idx="minor">
            <a:schemeClr val="lt1"/>
          </a:fontRef>
        </p:style>
      </p:pic>
    </p:spTree>
    <p:extLst>
      <p:ext uri="{BB962C8B-B14F-4D97-AF65-F5344CB8AC3E}">
        <p14:creationId xmlns:p14="http://schemas.microsoft.com/office/powerpoint/2010/main" val="1051241411"/>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rgbClr val="9900CC"/>
                </a:solidFill>
              </a:rPr>
              <a:t>S</a:t>
            </a:r>
            <a:r>
              <a:rPr lang="en-US" cap="none" dirty="0" smtClean="0">
                <a:solidFill>
                  <a:srgbClr val="9900CC"/>
                </a:solidFill>
              </a:rPr>
              <a:t>olution</a:t>
            </a:r>
            <a:r>
              <a:rPr lang="en-US" dirty="0" smtClean="0">
                <a:solidFill>
                  <a:srgbClr val="9900CC"/>
                </a:solidFill>
              </a:rPr>
              <a:t>: path-rag</a:t>
            </a:r>
            <a:endParaRPr lang="en-US" dirty="0">
              <a:solidFill>
                <a:srgbClr val="9900CC"/>
              </a:solidFill>
            </a:endParaRPr>
          </a:p>
        </p:txBody>
      </p:sp>
      <p:sp>
        <p:nvSpPr>
          <p:cNvPr id="3" name="Content Placeholder 2"/>
          <p:cNvSpPr>
            <a:spLocks noGrp="1"/>
          </p:cNvSpPr>
          <p:nvPr>
            <p:ph idx="1"/>
          </p:nvPr>
        </p:nvSpPr>
        <p:spPr>
          <a:xfrm>
            <a:off x="1141412" y="1265274"/>
            <a:ext cx="9905999" cy="5167424"/>
          </a:xfrm>
        </p:spPr>
        <p:txBody>
          <a:bodyPr>
            <a:normAutofit/>
          </a:bodyPr>
          <a:lstStyle/>
          <a:p>
            <a:pPr algn="just"/>
            <a:r>
              <a:rPr lang="en-US" sz="2600" dirty="0"/>
              <a:t>To overcome the above limitations, </a:t>
            </a:r>
            <a:r>
              <a:rPr lang="en-US" sz="2600" dirty="0" smtClean="0"/>
              <a:t>we propose </a:t>
            </a:r>
            <a:r>
              <a:rPr lang="en-US" sz="2600" dirty="0" err="1"/>
              <a:t>PathRAG</a:t>
            </a:r>
            <a:r>
              <a:rPr lang="en-US" sz="2600" dirty="0"/>
              <a:t>, which performs key path retrieval among retrieved nodes and converts these </a:t>
            </a:r>
            <a:r>
              <a:rPr lang="en-US" sz="2600" dirty="0" smtClean="0"/>
              <a:t>paths into </a:t>
            </a:r>
            <a:r>
              <a:rPr lang="en-US" sz="2600" dirty="0"/>
              <a:t>textual form for LLM prompting.</a:t>
            </a:r>
          </a:p>
          <a:p>
            <a:pPr algn="just"/>
            <a:r>
              <a:rPr lang="en-US" sz="2600" dirty="0"/>
              <a:t>we focus on the key relational </a:t>
            </a:r>
            <a:r>
              <a:rPr lang="en-US" sz="2600" dirty="0" smtClean="0"/>
              <a:t>paths between </a:t>
            </a:r>
            <a:r>
              <a:rPr lang="en-US" sz="2600" dirty="0"/>
              <a:t>retrieved nodes to alleviate noise and re- duce token consumption</a:t>
            </a:r>
            <a:r>
              <a:rPr lang="en-US" sz="2600" dirty="0" smtClean="0"/>
              <a:t>.</a:t>
            </a:r>
          </a:p>
          <a:p>
            <a:pPr algn="just"/>
            <a:r>
              <a:rPr lang="en-US" sz="2600" dirty="0" smtClean="0"/>
              <a:t> </a:t>
            </a:r>
            <a:r>
              <a:rPr lang="en-US" sz="2600" dirty="0"/>
              <a:t>Specifically, we first </a:t>
            </a:r>
            <a:r>
              <a:rPr lang="en-US" sz="2600" dirty="0" smtClean="0"/>
              <a:t>retrieve </a:t>
            </a:r>
            <a:r>
              <a:rPr lang="en-US" sz="2600" dirty="0"/>
              <a:t>relevant nodes from the indexing graph based on the keywords in the query. Then we design a flow-based pruning algorithm with distance </a:t>
            </a:r>
            <a:r>
              <a:rPr lang="en-US" sz="2600" dirty="0" smtClean="0"/>
              <a:t>awareness </a:t>
            </a:r>
            <a:r>
              <a:rPr lang="en-US" sz="2600" dirty="0"/>
              <a:t>to identify the key relational paths </a:t>
            </a:r>
            <a:r>
              <a:rPr lang="en-US" sz="2600" dirty="0" smtClean="0"/>
              <a:t>between each </a:t>
            </a:r>
            <a:r>
              <a:rPr lang="en-US" sz="2600" dirty="0"/>
              <a:t>pair of retrieved nodes.</a:t>
            </a:r>
          </a:p>
          <a:p>
            <a:pPr algn="just"/>
            <a:endParaRPr lang="en-US" dirty="0"/>
          </a:p>
        </p:txBody>
      </p:sp>
    </p:spTree>
    <p:extLst>
      <p:ext uri="{BB962C8B-B14F-4D97-AF65-F5344CB8AC3E}">
        <p14:creationId xmlns:p14="http://schemas.microsoft.com/office/powerpoint/2010/main" val="1704314663"/>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dirty="0" smtClean="0">
                <a:solidFill>
                  <a:srgbClr val="9900CC"/>
                </a:solidFill>
              </a:rPr>
              <a:t>“LOST IN THE MIDDLE” </a:t>
            </a:r>
            <a:r>
              <a:rPr lang="en-US" cap="none" dirty="0" smtClean="0">
                <a:solidFill>
                  <a:srgbClr val="9900CC"/>
                </a:solidFill>
              </a:rPr>
              <a:t>problem</a:t>
            </a:r>
            <a:endParaRPr lang="en-US" cap="none" dirty="0">
              <a:solidFill>
                <a:srgbClr val="9900CC"/>
              </a:solidFill>
            </a:endParaRPr>
          </a:p>
        </p:txBody>
      </p:sp>
      <p:sp>
        <p:nvSpPr>
          <p:cNvPr id="3" name="Content Placeholder 2"/>
          <p:cNvSpPr>
            <a:spLocks noGrp="1"/>
          </p:cNvSpPr>
          <p:nvPr>
            <p:ph idx="1"/>
          </p:nvPr>
        </p:nvSpPr>
        <p:spPr>
          <a:xfrm>
            <a:off x="1141412" y="1218128"/>
            <a:ext cx="9905999" cy="5405956"/>
          </a:xfrm>
        </p:spPr>
        <p:txBody>
          <a:bodyPr>
            <a:normAutofit lnSpcReduction="10000"/>
          </a:bodyPr>
          <a:lstStyle/>
          <a:p>
            <a:r>
              <a:rPr lang="en-US" sz="2800" dirty="0"/>
              <a:t>The </a:t>
            </a:r>
            <a:r>
              <a:rPr lang="en-US" sz="2800" b="1" dirty="0"/>
              <a:t>lost in the middle</a:t>
            </a:r>
            <a:r>
              <a:rPr lang="en-US" sz="2800" dirty="0"/>
              <a:t> problem is when language models focus more on the </a:t>
            </a:r>
            <a:r>
              <a:rPr lang="en-US" sz="2800" b="1" dirty="0"/>
              <a:t>start and end</a:t>
            </a:r>
            <a:r>
              <a:rPr lang="en-US" sz="2800" dirty="0"/>
              <a:t> of long inputs and </a:t>
            </a:r>
            <a:r>
              <a:rPr lang="en-US" sz="2800" b="1" dirty="0"/>
              <a:t>ignore important information in the </a:t>
            </a:r>
            <a:r>
              <a:rPr lang="en-US" sz="2800" b="1" dirty="0" smtClean="0"/>
              <a:t>middle</a:t>
            </a:r>
            <a:r>
              <a:rPr lang="en-US" sz="2800" dirty="0" smtClean="0"/>
              <a:t>.</a:t>
            </a:r>
          </a:p>
          <a:p>
            <a:r>
              <a:rPr lang="en-US" sz="2800" dirty="0" smtClean="0"/>
              <a:t>As </a:t>
            </a:r>
            <a:r>
              <a:rPr lang="en-US" sz="2800" dirty="0"/>
              <a:t>context length increases, mid-document facts are less likely to affect the </a:t>
            </a:r>
            <a:r>
              <a:rPr lang="en-US" sz="2800" dirty="0" smtClean="0"/>
              <a:t>output. This </a:t>
            </a:r>
            <a:r>
              <a:rPr lang="en-US" sz="2800" dirty="0"/>
              <a:t>hurts long-document QA and RAG, motivating chunking and structured </a:t>
            </a:r>
            <a:r>
              <a:rPr lang="en-US" sz="2800" dirty="0" smtClean="0"/>
              <a:t>retrieval.</a:t>
            </a:r>
          </a:p>
          <a:p>
            <a:r>
              <a:rPr lang="en-US" dirty="0" smtClean="0">
                <a:solidFill>
                  <a:schemeClr val="accent4">
                    <a:lumMod val="75000"/>
                  </a:schemeClr>
                </a:solidFill>
              </a:rPr>
              <a:t>HOW TO SOLVE IN PATH-RAG?</a:t>
            </a:r>
          </a:p>
          <a:p>
            <a:pPr marL="457200" lvl="1" indent="0">
              <a:buNone/>
            </a:pPr>
            <a:r>
              <a:rPr lang="en-US" sz="2400" dirty="0" smtClean="0"/>
              <a:t>we </a:t>
            </a:r>
            <a:r>
              <a:rPr lang="en-US" sz="2400" dirty="0"/>
              <a:t>sequentially concatenate the node and edge </a:t>
            </a:r>
            <a:r>
              <a:rPr lang="en-US" sz="2400" dirty="0" smtClean="0"/>
              <a:t>information </a:t>
            </a:r>
            <a:r>
              <a:rPr lang="en-US" sz="2400" dirty="0"/>
              <a:t>alongside each path as textual relational paths</a:t>
            </a:r>
            <a:r>
              <a:rPr lang="en-US" sz="2400" dirty="0" smtClean="0"/>
              <a:t>. we </a:t>
            </a:r>
            <a:r>
              <a:rPr lang="en-US" sz="2400" dirty="0"/>
              <a:t>place the textual paths into the prompt in ascending order of </a:t>
            </a:r>
            <a:r>
              <a:rPr lang="en-US" sz="2400" dirty="0" smtClean="0"/>
              <a:t>reliability. scores </a:t>
            </a:r>
            <a:r>
              <a:rPr lang="en-US" sz="2400" dirty="0"/>
              <a:t>for better answer generation.</a:t>
            </a:r>
          </a:p>
          <a:p>
            <a:pPr lvl="1"/>
            <a:endParaRPr lang="en-US" dirty="0"/>
          </a:p>
        </p:txBody>
      </p:sp>
    </p:spTree>
    <p:extLst>
      <p:ext uri="{BB962C8B-B14F-4D97-AF65-F5344CB8AC3E}">
        <p14:creationId xmlns:p14="http://schemas.microsoft.com/office/powerpoint/2010/main" val="371900384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1" y="5373"/>
            <a:ext cx="9905998" cy="1478570"/>
          </a:xfrm>
        </p:spPr>
        <p:txBody>
          <a:bodyPr/>
          <a:lstStyle/>
          <a:p>
            <a:r>
              <a:rPr lang="en-US" dirty="0">
                <a:solidFill>
                  <a:srgbClr val="FF3399"/>
                </a:solidFill>
              </a:rPr>
              <a:t>Knowledge Sources for </a:t>
            </a:r>
            <a:r>
              <a:rPr lang="en-US" dirty="0" smtClean="0">
                <a:solidFill>
                  <a:srgbClr val="FF3399"/>
                </a:solidFill>
              </a:rPr>
              <a:t>RAG</a:t>
            </a:r>
            <a:endParaRPr lang="en-US" dirty="0">
              <a:solidFill>
                <a:srgbClr val="FF3399"/>
              </a:solidFill>
            </a:endParaRPr>
          </a:p>
        </p:txBody>
      </p:sp>
      <p:sp>
        <p:nvSpPr>
          <p:cNvPr id="3" name="Content Placeholder 2"/>
          <p:cNvSpPr>
            <a:spLocks noGrp="1"/>
          </p:cNvSpPr>
          <p:nvPr>
            <p:ph idx="1"/>
          </p:nvPr>
        </p:nvSpPr>
        <p:spPr>
          <a:xfrm>
            <a:off x="1141411" y="1101170"/>
            <a:ext cx="9905997" cy="5522914"/>
          </a:xfrm>
        </p:spPr>
        <p:txBody>
          <a:bodyPr>
            <a:noAutofit/>
          </a:bodyPr>
          <a:lstStyle/>
          <a:p>
            <a:pPr algn="just"/>
            <a:r>
              <a:rPr lang="en-US" sz="2600" dirty="0"/>
              <a:t>A </a:t>
            </a:r>
            <a:r>
              <a:rPr lang="en-US" sz="2600" b="1" dirty="0"/>
              <a:t>knowledge base</a:t>
            </a:r>
            <a:r>
              <a:rPr lang="en-US" sz="2600" dirty="0"/>
              <a:t> is an external repository that stores structured or unstructured information used by retrieval-augmented generation systems to support language models. </a:t>
            </a:r>
            <a:endParaRPr lang="en-US" sz="2600" dirty="0" smtClean="0"/>
          </a:p>
          <a:p>
            <a:pPr algn="just"/>
            <a:r>
              <a:rPr lang="en-US" sz="2600" dirty="0" smtClean="0"/>
              <a:t>Instead </a:t>
            </a:r>
            <a:r>
              <a:rPr lang="en-US" sz="2600" dirty="0"/>
              <a:t>of relying solely on parametric memory, LLMs query these knowledge sources to obtain relevant facts, context, or relationships at inference time. </a:t>
            </a:r>
            <a:endParaRPr lang="en-US" sz="2600" dirty="0" smtClean="0"/>
          </a:p>
          <a:p>
            <a:pPr algn="just"/>
            <a:r>
              <a:rPr lang="en-US" sz="2600" dirty="0" smtClean="0"/>
              <a:t>Knowledge </a:t>
            </a:r>
            <a:r>
              <a:rPr lang="en-US" sz="2600" dirty="0"/>
              <a:t>bases can take different forms—such as text collections, knowledge graphs, or graph datasets—each offering distinct ways of organizing and accessing information for downstream reasoning and generation tasks.</a:t>
            </a:r>
          </a:p>
        </p:txBody>
      </p:sp>
    </p:spTree>
    <p:extLst>
      <p:ext uri="{BB962C8B-B14F-4D97-AF65-F5344CB8AC3E}">
        <p14:creationId xmlns:p14="http://schemas.microsoft.com/office/powerpoint/2010/main" val="31438618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1478570"/>
          </a:xfrm>
        </p:spPr>
        <p:txBody>
          <a:bodyPr/>
          <a:lstStyle/>
          <a:p>
            <a:r>
              <a:rPr lang="en-US" cap="none" dirty="0" smtClean="0">
                <a:solidFill>
                  <a:srgbClr val="9900CC"/>
                </a:solidFill>
              </a:rPr>
              <a:t>Text-Based RAG</a:t>
            </a:r>
            <a:endParaRPr lang="en-US" cap="none" dirty="0">
              <a:solidFill>
                <a:srgbClr val="9900CC"/>
              </a:solidFill>
            </a:endParaRPr>
          </a:p>
        </p:txBody>
      </p:sp>
      <p:sp>
        <p:nvSpPr>
          <p:cNvPr id="7" name="Content Placeholder 6"/>
          <p:cNvSpPr>
            <a:spLocks noGrp="1"/>
          </p:cNvSpPr>
          <p:nvPr>
            <p:ph idx="1"/>
          </p:nvPr>
        </p:nvSpPr>
        <p:spPr>
          <a:xfrm>
            <a:off x="1141412" y="1138328"/>
            <a:ext cx="10565035" cy="1711197"/>
          </a:xfrm>
        </p:spPr>
        <p:txBody>
          <a:bodyPr>
            <a:normAutofit/>
          </a:bodyPr>
          <a:lstStyle/>
          <a:p>
            <a:r>
              <a:rPr lang="en-US" sz="2600" dirty="0"/>
              <a:t>Text-based RAG is widely used in LLMs to improve text quality and reduce hallucinations by retrieving information from external textual databases that store large amounts of domain knowledge</a:t>
            </a:r>
            <a:r>
              <a:rPr lang="en-US" sz="2600" dirty="0" smtClean="0"/>
              <a:t>.</a:t>
            </a:r>
            <a:endParaRPr lang="en-US" sz="2600" dirty="0"/>
          </a:p>
        </p:txBody>
      </p:sp>
      <p:pic>
        <p:nvPicPr>
          <p:cNvPr id="10" name="Picture 9"/>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86583" y="2849525"/>
            <a:ext cx="5667153" cy="344494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pic>
      <p:sp>
        <p:nvSpPr>
          <p:cNvPr id="11" name="TextBox 10"/>
          <p:cNvSpPr txBox="1"/>
          <p:nvPr/>
        </p:nvSpPr>
        <p:spPr>
          <a:xfrm>
            <a:off x="1141413" y="3002968"/>
            <a:ext cx="3919686" cy="2369880"/>
          </a:xfrm>
          <a:prstGeom prst="rect">
            <a:avLst/>
          </a:prstGeom>
          <a:noFill/>
        </p:spPr>
        <p:txBody>
          <a:bodyPr wrap="square" rtlCol="0">
            <a:spAutoFit/>
          </a:bodyPr>
          <a:lstStyle/>
          <a:p>
            <a:pPr marL="285750" indent="-285750">
              <a:buFont typeface="Arial" panose="020B0604020202020204" pitchFamily="34" charset="0"/>
              <a:buChar char="•"/>
            </a:pPr>
            <a:r>
              <a:rPr lang="en-US" sz="2600" dirty="0"/>
              <a:t>Text-based RAG systems rely on </a:t>
            </a:r>
            <a:r>
              <a:rPr lang="en-US" sz="2600" b="1" dirty="0"/>
              <a:t>textual data only</a:t>
            </a:r>
            <a:r>
              <a:rPr lang="en-US" sz="2600" dirty="0"/>
              <a:t>, </a:t>
            </a:r>
            <a:r>
              <a:rPr lang="en-US" sz="2600" dirty="0" smtClean="0"/>
              <a:t>allowing </a:t>
            </a:r>
            <a:r>
              <a:rPr lang="en-US" sz="2600" dirty="0"/>
              <a:t>LLMs to directly retrieve and condition on retrieved text chunks.</a:t>
            </a:r>
          </a:p>
          <a:p>
            <a:endParaRPr lang="en-US" dirty="0"/>
          </a:p>
        </p:txBody>
      </p:sp>
    </p:spTree>
    <p:extLst>
      <p:ext uri="{BB962C8B-B14F-4D97-AF65-F5344CB8AC3E}">
        <p14:creationId xmlns:p14="http://schemas.microsoft.com/office/powerpoint/2010/main" val="400357394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6351" y="707766"/>
            <a:ext cx="10299221" cy="5724932"/>
          </a:xfrm>
        </p:spPr>
        <p:txBody>
          <a:bodyPr>
            <a:normAutofit/>
          </a:bodyPr>
          <a:lstStyle/>
          <a:p>
            <a:pPr algn="just"/>
            <a:r>
              <a:rPr lang="en-US" sz="2600" dirty="0"/>
              <a:t>Based on retrieval mechanisms, </a:t>
            </a:r>
            <a:r>
              <a:rPr lang="en-US" sz="2600" b="1" dirty="0"/>
              <a:t>text-based RAG is divided into two </a:t>
            </a:r>
            <a:r>
              <a:rPr lang="en-US" sz="2600" b="1" dirty="0" smtClean="0"/>
              <a:t>categories</a:t>
            </a:r>
            <a:r>
              <a:rPr lang="en-US" sz="2600" dirty="0" smtClean="0"/>
              <a:t>:</a:t>
            </a:r>
            <a:endParaRPr lang="en-US" sz="2600" dirty="0"/>
          </a:p>
          <a:p>
            <a:pPr marL="971550" lvl="1" indent="-514350" algn="just">
              <a:buFont typeface="+mj-lt"/>
              <a:buAutoNum type="romanUcPeriod"/>
            </a:pPr>
            <a:r>
              <a:rPr lang="en-US" sz="2400" b="1" dirty="0"/>
              <a:t>Sparse vector retrieval</a:t>
            </a:r>
            <a:r>
              <a:rPr lang="en-US" sz="2400" dirty="0"/>
              <a:t>: identifies representative words using word frequency and retrieves text via </a:t>
            </a:r>
            <a:r>
              <a:rPr lang="en-US" sz="2400" b="1" dirty="0"/>
              <a:t>keyword matching</a:t>
            </a:r>
            <a:r>
              <a:rPr lang="en-US" sz="2400" dirty="0" smtClean="0"/>
              <a:t>.</a:t>
            </a:r>
          </a:p>
          <a:p>
            <a:pPr marL="971550" lvl="1" indent="-514350" algn="just">
              <a:buFont typeface="+mj-lt"/>
              <a:buAutoNum type="romanUcPeriod"/>
            </a:pPr>
            <a:r>
              <a:rPr lang="en-US" sz="2400" b="1" dirty="0"/>
              <a:t>Dense vector retrieval</a:t>
            </a:r>
            <a:r>
              <a:rPr lang="en-US" sz="2400" dirty="0"/>
              <a:t>: encodes queries and text into </a:t>
            </a:r>
            <a:r>
              <a:rPr lang="en-US" sz="2400" b="1" dirty="0"/>
              <a:t>vector </a:t>
            </a:r>
            <a:r>
              <a:rPr lang="en-US" sz="2400" b="1" dirty="0" err="1"/>
              <a:t>embeddings</a:t>
            </a:r>
            <a:r>
              <a:rPr lang="en-US" sz="2400" dirty="0"/>
              <a:t> and retrieves content based on </a:t>
            </a:r>
            <a:r>
              <a:rPr lang="en-US" sz="2400" b="1" dirty="0"/>
              <a:t>embedding similarity</a:t>
            </a:r>
            <a:r>
              <a:rPr lang="en-US" sz="2400" dirty="0"/>
              <a:t>, addressing lexical mismatch and synonym </a:t>
            </a:r>
            <a:r>
              <a:rPr lang="en-US" sz="2400" dirty="0" smtClean="0"/>
              <a:t>issues.</a:t>
            </a:r>
          </a:p>
          <a:p>
            <a:pPr algn="just"/>
            <a:r>
              <a:rPr lang="en-US" sz="2600" dirty="0" smtClean="0"/>
              <a:t>Most </a:t>
            </a:r>
            <a:r>
              <a:rPr lang="en-US" sz="2600" dirty="0"/>
              <a:t>existing text-based RAG methods use a </a:t>
            </a:r>
            <a:r>
              <a:rPr lang="en-US" sz="2600" b="1" dirty="0"/>
              <a:t>flat organization of text chunks</a:t>
            </a:r>
            <a:r>
              <a:rPr lang="en-US" sz="2600" dirty="0"/>
              <a:t> and </a:t>
            </a:r>
            <a:r>
              <a:rPr lang="en-US" sz="2600" b="1" dirty="0"/>
              <a:t>do not model relationships or contextual dependencies between chunks</a:t>
            </a:r>
            <a:r>
              <a:rPr lang="en-US" sz="2600" dirty="0"/>
              <a:t>, which limits the quality of LLM-generated responses.</a:t>
            </a:r>
          </a:p>
        </p:txBody>
      </p:sp>
    </p:spTree>
    <p:extLst>
      <p:ext uri="{BB962C8B-B14F-4D97-AF65-F5344CB8AC3E}">
        <p14:creationId xmlns:p14="http://schemas.microsoft.com/office/powerpoint/2010/main" val="212382169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257115"/>
          </a:xfrm>
        </p:spPr>
        <p:txBody>
          <a:bodyPr/>
          <a:lstStyle/>
          <a:p>
            <a:r>
              <a:rPr lang="en-US" dirty="0">
                <a:solidFill>
                  <a:srgbClr val="9900CC"/>
                </a:solidFill>
              </a:rPr>
              <a:t>KG-RAG</a:t>
            </a:r>
          </a:p>
        </p:txBody>
      </p:sp>
      <p:sp>
        <p:nvSpPr>
          <p:cNvPr id="3" name="Content Placeholder 2"/>
          <p:cNvSpPr>
            <a:spLocks noGrp="1"/>
          </p:cNvSpPr>
          <p:nvPr>
            <p:ph idx="1"/>
          </p:nvPr>
        </p:nvSpPr>
        <p:spPr>
          <a:xfrm>
            <a:off x="1141413" y="952315"/>
            <a:ext cx="10373647" cy="5491016"/>
          </a:xfrm>
        </p:spPr>
        <p:txBody>
          <a:bodyPr>
            <a:normAutofit/>
          </a:bodyPr>
          <a:lstStyle/>
          <a:p>
            <a:pPr algn="just"/>
            <a:r>
              <a:rPr lang="en-US" sz="2600" b="1" dirty="0"/>
              <a:t>KG-RAG</a:t>
            </a:r>
            <a:r>
              <a:rPr lang="en-US" sz="2600" dirty="0"/>
              <a:t> retrieves information from </a:t>
            </a:r>
            <a:r>
              <a:rPr lang="en-US" sz="2600" b="1" dirty="0"/>
              <a:t>knowledge graphs (KGs)</a:t>
            </a:r>
            <a:r>
              <a:rPr lang="en-US" sz="2600" dirty="0"/>
              <a:t> instead of text databases</a:t>
            </a:r>
            <a:r>
              <a:rPr lang="en-US" sz="2600" dirty="0" smtClean="0"/>
              <a:t>.</a:t>
            </a:r>
          </a:p>
          <a:p>
            <a:pPr algn="just"/>
            <a:r>
              <a:rPr lang="en-US" sz="2600" dirty="0"/>
              <a:t>It can use </a:t>
            </a:r>
            <a:r>
              <a:rPr lang="en-US" sz="2600" b="1" dirty="0"/>
              <a:t>existing KGs</a:t>
            </a:r>
            <a:r>
              <a:rPr lang="en-US" sz="2600" dirty="0"/>
              <a:t> or </a:t>
            </a:r>
            <a:r>
              <a:rPr lang="en-US" sz="2600" b="1" dirty="0"/>
              <a:t>optimized/enhanced versions</a:t>
            </a:r>
            <a:r>
              <a:rPr lang="en-US" sz="2600" dirty="0"/>
              <a:t> of KGs</a:t>
            </a:r>
            <a:r>
              <a:rPr lang="en-US" sz="2600" dirty="0" smtClean="0"/>
              <a:t>.</a:t>
            </a:r>
          </a:p>
          <a:p>
            <a:pPr algn="just"/>
            <a:r>
              <a:rPr lang="en-US" sz="2600" dirty="0"/>
              <a:t>KG-RAG enables LLMs to retrieve </a:t>
            </a:r>
            <a:r>
              <a:rPr lang="en-US" sz="2600" b="1" dirty="0"/>
              <a:t>entities and their relationships</a:t>
            </a:r>
            <a:r>
              <a:rPr lang="en-US" sz="2600" dirty="0"/>
              <a:t>, providing structured knowledge for </a:t>
            </a:r>
            <a:r>
              <a:rPr lang="en-US" sz="2600" dirty="0" smtClean="0"/>
              <a:t>generation</a:t>
            </a:r>
            <a:endParaRPr lang="en-US" sz="2600"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99036" y="3827721"/>
            <a:ext cx="10058400" cy="2711303"/>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pic>
    </p:spTree>
    <p:extLst>
      <p:ext uri="{BB962C8B-B14F-4D97-AF65-F5344CB8AC3E}">
        <p14:creationId xmlns:p14="http://schemas.microsoft.com/office/powerpoint/2010/main" val="376793480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56355" y="463217"/>
            <a:ext cx="10150362" cy="1737723"/>
          </a:xfrm>
        </p:spPr>
        <p:txBody>
          <a:bodyPr>
            <a:normAutofit/>
          </a:bodyPr>
          <a:lstStyle/>
          <a:p>
            <a:pPr algn="just"/>
            <a:r>
              <a:rPr lang="en-US" sz="2600" dirty="0"/>
              <a:t>KG-RAG methods typically </a:t>
            </a:r>
            <a:r>
              <a:rPr lang="en-US" sz="2600" b="1" dirty="0"/>
              <a:t>extract a local subgraph</a:t>
            </a:r>
            <a:r>
              <a:rPr lang="en-US" sz="2600" dirty="0"/>
              <a:t> from the KG, such as </a:t>
            </a:r>
            <a:r>
              <a:rPr lang="en-US" sz="2600" b="1" dirty="0"/>
              <a:t>immediate neighbors of queried entities</a:t>
            </a:r>
            <a:r>
              <a:rPr lang="en-US" sz="2600" dirty="0" smtClean="0"/>
              <a:t>.</a:t>
            </a:r>
          </a:p>
        </p:txBody>
      </p:sp>
      <p:sp>
        <p:nvSpPr>
          <p:cNvPr id="5" name="TextBox 4"/>
          <p:cNvSpPr txBox="1"/>
          <p:nvPr/>
        </p:nvSpPr>
        <p:spPr>
          <a:xfrm>
            <a:off x="1056355" y="1634116"/>
            <a:ext cx="4068538" cy="4493538"/>
          </a:xfrm>
          <a:prstGeom prst="rect">
            <a:avLst/>
          </a:prstGeom>
          <a:noFill/>
        </p:spPr>
        <p:txBody>
          <a:bodyPr wrap="square" rtlCol="0">
            <a:spAutoFit/>
          </a:bodyPr>
          <a:lstStyle/>
          <a:p>
            <a:pPr marL="285750" indent="-285750" algn="just">
              <a:buFont typeface="Arial" panose="020B0604020202020204" pitchFamily="34" charset="0"/>
              <a:buChar char="•"/>
            </a:pPr>
            <a:r>
              <a:rPr lang="en-US" sz="2600" dirty="0"/>
              <a:t>This approach focuses on </a:t>
            </a:r>
            <a:r>
              <a:rPr lang="en-US" sz="2600" b="1" dirty="0"/>
              <a:t>entity-centric retrieval</a:t>
            </a:r>
            <a:r>
              <a:rPr lang="en-US" sz="2600" dirty="0" smtClean="0"/>
              <a:t>.</a:t>
            </a:r>
          </a:p>
          <a:p>
            <a:pPr algn="just"/>
            <a:endParaRPr lang="en-US" sz="2600" dirty="0"/>
          </a:p>
          <a:p>
            <a:pPr marL="285750" indent="-285750" algn="just">
              <a:buFont typeface="Arial" panose="020B0604020202020204" pitchFamily="34" charset="0"/>
              <a:buChar char="•"/>
            </a:pPr>
            <a:r>
              <a:rPr lang="en-US" sz="2600" dirty="0"/>
              <a:t>Most KG-RAG methods handle questions involving </a:t>
            </a:r>
            <a:r>
              <a:rPr lang="en-US" sz="2600" b="1" dirty="0"/>
              <a:t>a single entity or relation</a:t>
            </a:r>
            <a:r>
              <a:rPr lang="en-US" sz="2600" dirty="0"/>
              <a:t>, which </a:t>
            </a:r>
            <a:r>
              <a:rPr lang="en-US" sz="2600" b="1" dirty="0"/>
              <a:t>limits their applicability</a:t>
            </a:r>
            <a:r>
              <a:rPr lang="en-US" sz="2600" dirty="0"/>
              <a:t> to more complex, multi-hop reasoning tasks.</a:t>
            </a:r>
          </a:p>
          <a:p>
            <a:endParaRPr lang="en-US" sz="2600" dirty="0"/>
          </a:p>
        </p:txBody>
      </p:sp>
      <p:pic>
        <p:nvPicPr>
          <p:cNvPr id="6" name="Picture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263117" y="1789938"/>
            <a:ext cx="6104157" cy="4181893"/>
          </a:xfrm>
          <a:prstGeom prst="rect">
            <a:avLst/>
          </a:prstGeom>
          <a:solidFill>
            <a:srgbClr val="FFFFFF">
              <a:shade val="85000"/>
            </a:srgbClr>
          </a:solidFill>
          <a:ln w="88900" cap="sq">
            <a:noFill/>
            <a:miter lim="800000"/>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139199685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1478570"/>
          </a:xfrm>
        </p:spPr>
        <p:txBody>
          <a:bodyPr/>
          <a:lstStyle/>
          <a:p>
            <a:r>
              <a:rPr lang="en-US" cap="none" dirty="0" smtClean="0">
                <a:solidFill>
                  <a:srgbClr val="9900CC"/>
                </a:solidFill>
              </a:rPr>
              <a:t>Graph-based RAG</a:t>
            </a:r>
            <a:endParaRPr lang="en-US" cap="none" dirty="0">
              <a:solidFill>
                <a:srgbClr val="9900CC"/>
              </a:solidFill>
            </a:endParaRPr>
          </a:p>
        </p:txBody>
      </p:sp>
      <p:sp>
        <p:nvSpPr>
          <p:cNvPr id="3" name="Content Placeholder 2"/>
          <p:cNvSpPr>
            <a:spLocks noGrp="1"/>
          </p:cNvSpPr>
          <p:nvPr>
            <p:ph idx="1"/>
          </p:nvPr>
        </p:nvSpPr>
        <p:spPr>
          <a:xfrm>
            <a:off x="1141412" y="1158949"/>
            <a:ext cx="9905999" cy="4632252"/>
          </a:xfrm>
        </p:spPr>
        <p:txBody>
          <a:bodyPr>
            <a:normAutofit/>
          </a:bodyPr>
          <a:lstStyle/>
          <a:p>
            <a:pPr algn="just"/>
            <a:r>
              <a:rPr lang="en-US" sz="2600" b="1" dirty="0"/>
              <a:t>Graph-based RAG</a:t>
            </a:r>
            <a:r>
              <a:rPr lang="en-US" sz="2600" dirty="0"/>
              <a:t> organizes text databases as </a:t>
            </a:r>
            <a:r>
              <a:rPr lang="en-US" sz="2600" b="1" dirty="0"/>
              <a:t>text-associated graphs</a:t>
            </a:r>
            <a:r>
              <a:rPr lang="en-US" sz="2600" dirty="0"/>
              <a:t> instead of using </a:t>
            </a:r>
            <a:r>
              <a:rPr lang="en-US" sz="2600" dirty="0" err="1"/>
              <a:t>preconstructed</a:t>
            </a:r>
            <a:r>
              <a:rPr lang="en-US" sz="2600" dirty="0"/>
              <a:t> knowledge graphs</a:t>
            </a:r>
            <a:r>
              <a:rPr lang="en-US" sz="2600" dirty="0" smtClean="0"/>
              <a:t>.</a:t>
            </a:r>
          </a:p>
          <a:p>
            <a:pPr algn="just"/>
            <a:r>
              <a:rPr lang="en-US" sz="2600" dirty="0"/>
              <a:t>It targets </a:t>
            </a:r>
            <a:r>
              <a:rPr lang="en-US" sz="2600" b="1" dirty="0"/>
              <a:t>global-level questions</a:t>
            </a:r>
            <a:r>
              <a:rPr lang="en-US" sz="2600" dirty="0"/>
              <a:t> that require information from </a:t>
            </a:r>
            <a:r>
              <a:rPr lang="en-US" sz="2600" b="1" dirty="0"/>
              <a:t>multiple text segments</a:t>
            </a:r>
            <a:r>
              <a:rPr lang="en-US" sz="2600" dirty="0"/>
              <a:t> across a database</a:t>
            </a:r>
            <a:r>
              <a:rPr lang="en-US" sz="2600" dirty="0" smtClean="0"/>
              <a:t>.</a:t>
            </a:r>
          </a:p>
          <a:p>
            <a:pPr algn="just"/>
            <a:r>
              <a:rPr lang="en-US" sz="2600" dirty="0"/>
              <a:t>Graph construction involves </a:t>
            </a:r>
            <a:r>
              <a:rPr lang="en-US" sz="2600" b="1" dirty="0"/>
              <a:t>extracting entities</a:t>
            </a:r>
            <a:r>
              <a:rPr lang="en-US" sz="2600" dirty="0"/>
              <a:t> from text and </a:t>
            </a:r>
            <a:r>
              <a:rPr lang="en-US" sz="2600" b="1" dirty="0"/>
              <a:t>identifying relationships</a:t>
            </a:r>
            <a:r>
              <a:rPr lang="en-US" sz="2600" dirty="0"/>
              <a:t> between them</a:t>
            </a:r>
            <a:r>
              <a:rPr lang="en-US" sz="2600" dirty="0" smtClean="0"/>
              <a:t>.</a:t>
            </a:r>
          </a:p>
          <a:p>
            <a:pPr algn="just"/>
            <a:r>
              <a:rPr lang="en-US" sz="2600" b="1" dirty="0"/>
              <a:t>Contextual text</a:t>
            </a:r>
            <a:r>
              <a:rPr lang="en-US" sz="2600" dirty="0"/>
              <a:t> is preserved as descriptions to reduce information loss during text-to-graph conversion.</a:t>
            </a:r>
          </a:p>
          <a:p>
            <a:endParaRPr lang="en-US" dirty="0"/>
          </a:p>
        </p:txBody>
      </p:sp>
    </p:spTree>
    <p:extLst>
      <p:ext uri="{BB962C8B-B14F-4D97-AF65-F5344CB8AC3E}">
        <p14:creationId xmlns:p14="http://schemas.microsoft.com/office/powerpoint/2010/main" val="3656035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909948" y="548279"/>
            <a:ext cx="10920543" cy="950912"/>
          </a:xfrm>
        </p:spPr>
        <p:txBody>
          <a:bodyPr>
            <a:noAutofit/>
          </a:bodyPr>
          <a:lstStyle/>
          <a:p>
            <a:r>
              <a:rPr lang="en-US" sz="2600" b="1" dirty="0" err="1"/>
              <a:t>GraphRAG</a:t>
            </a:r>
            <a:r>
              <a:rPr lang="en-US" sz="2600" dirty="0"/>
              <a:t> applies </a:t>
            </a:r>
            <a:r>
              <a:rPr lang="en-US" sz="2600" b="1" dirty="0"/>
              <a:t>community detection algorithms</a:t>
            </a:r>
            <a:r>
              <a:rPr lang="en-US" sz="2600" dirty="0"/>
              <a:t> on the constructed graph</a:t>
            </a:r>
            <a:r>
              <a:rPr lang="en-US" sz="2600" dirty="0" smtClean="0"/>
              <a:t>.</a:t>
            </a:r>
          </a:p>
        </p:txBody>
      </p:sp>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659514" y="1649439"/>
            <a:ext cx="6566015" cy="4369982"/>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
        <p:nvSpPr>
          <p:cNvPr id="5" name="TextBox 4"/>
          <p:cNvSpPr txBox="1"/>
          <p:nvPr/>
        </p:nvSpPr>
        <p:spPr>
          <a:xfrm>
            <a:off x="909948" y="1649439"/>
            <a:ext cx="3749566" cy="5170646"/>
          </a:xfrm>
          <a:prstGeom prst="rect">
            <a:avLst/>
          </a:prstGeom>
          <a:noFill/>
        </p:spPr>
        <p:txBody>
          <a:bodyPr wrap="square" rtlCol="0">
            <a:spAutoFit/>
          </a:bodyPr>
          <a:lstStyle/>
          <a:p>
            <a:pPr marL="285750" indent="-285750">
              <a:buFont typeface="Arial" panose="020B0604020202020204" pitchFamily="34" charset="0"/>
              <a:buChar char="•"/>
            </a:pPr>
            <a:r>
              <a:rPr lang="en-US" sz="2600" dirty="0"/>
              <a:t>Information is </a:t>
            </a:r>
            <a:r>
              <a:rPr lang="en-US" sz="2600" b="1" dirty="0"/>
              <a:t>aggregated hierarchically</a:t>
            </a:r>
            <a:r>
              <a:rPr lang="en-US" sz="2600" dirty="0"/>
              <a:t>, from </a:t>
            </a:r>
            <a:r>
              <a:rPr lang="en-US" sz="2600" b="1" dirty="0"/>
              <a:t>sub-communities</a:t>
            </a:r>
            <a:r>
              <a:rPr lang="en-US" sz="2600" dirty="0"/>
              <a:t> to higher-level communities</a:t>
            </a:r>
            <a:r>
              <a:rPr lang="en-US" sz="2600" dirty="0" smtClean="0"/>
              <a:t>.</a:t>
            </a:r>
          </a:p>
          <a:p>
            <a:endParaRPr lang="en-US" sz="2600" dirty="0"/>
          </a:p>
          <a:p>
            <a:pPr marL="285750" indent="-285750">
              <a:buFont typeface="Arial" panose="020B0604020202020204" pitchFamily="34" charset="0"/>
              <a:buChar char="•"/>
            </a:pPr>
            <a:r>
              <a:rPr lang="en-US" sz="2600" dirty="0"/>
              <a:t>This enables </a:t>
            </a:r>
            <a:r>
              <a:rPr lang="en-US" sz="2600" b="1" dirty="0"/>
              <a:t>multi-segment and global information integration</a:t>
            </a:r>
            <a:r>
              <a:rPr lang="en-US" sz="2600" dirty="0"/>
              <a:t> for downstream generation.</a:t>
            </a:r>
          </a:p>
          <a:p>
            <a:endParaRPr lang="en-US" dirty="0"/>
          </a:p>
        </p:txBody>
      </p:sp>
    </p:spTree>
    <p:extLst>
      <p:ext uri="{BB962C8B-B14F-4D97-AF65-F5344CB8AC3E}">
        <p14:creationId xmlns:p14="http://schemas.microsoft.com/office/powerpoint/2010/main" val="172968522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13819" y="613994"/>
            <a:ext cx="9905999" cy="3541714"/>
          </a:xfrm>
        </p:spPr>
        <p:txBody>
          <a:bodyPr/>
          <a:lstStyle/>
          <a:p>
            <a:r>
              <a:rPr lang="en-US" b="1" dirty="0" err="1"/>
              <a:t>LightRAG</a:t>
            </a:r>
            <a:r>
              <a:rPr lang="en-US" dirty="0"/>
              <a:t> adopts a </a:t>
            </a:r>
            <a:r>
              <a:rPr lang="en-US" b="1" dirty="0"/>
              <a:t>dual-stage retrieval framework</a:t>
            </a:r>
            <a:r>
              <a:rPr lang="en-US" dirty="0"/>
              <a:t> to accelerate the retrieval process</a:t>
            </a:r>
            <a:r>
              <a:rPr lang="en-US" dirty="0" smtClean="0"/>
              <a:t>.</a:t>
            </a:r>
          </a:p>
          <a:p>
            <a:r>
              <a:rPr lang="en-US" dirty="0"/>
              <a:t>It extracts both </a:t>
            </a:r>
            <a:r>
              <a:rPr lang="en-US" b="1" dirty="0"/>
              <a:t>local and global keywords</a:t>
            </a:r>
            <a:r>
              <a:rPr lang="en-US" dirty="0"/>
              <a:t> from the input question</a:t>
            </a:r>
            <a:r>
              <a:rPr lang="en-US" dirty="0" smtClean="0"/>
              <a:t>.</a:t>
            </a:r>
          </a:p>
          <a:p>
            <a:r>
              <a:rPr lang="en-US" dirty="0"/>
              <a:t>Relevant </a:t>
            </a:r>
            <a:r>
              <a:rPr lang="en-US" b="1" dirty="0"/>
              <a:t>nodes and edges</a:t>
            </a:r>
            <a:r>
              <a:rPr lang="en-US" dirty="0"/>
              <a:t> are retrieved using these keywords</a:t>
            </a:r>
            <a:r>
              <a:rPr lang="en-US" dirty="0" smtClean="0"/>
              <a:t>.</a:t>
            </a:r>
          </a:p>
          <a:p>
            <a:endParaRPr lang="en-US" dirty="0"/>
          </a:p>
        </p:txBody>
      </p:sp>
      <p:sp>
        <p:nvSpPr>
          <p:cNvPr id="4" name="AutoShape 2" descr="Dual-Level Retrieval"/>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AutoShape 4" descr="Dual-Level Retrieval"/>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6" descr="https://cdn.analyticsvidhya.com/wp-content/uploads/2025/01/Dual-Level-Retrieval-1.webp"/>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0933" y="2902577"/>
            <a:ext cx="9411769" cy="3435199"/>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pic>
    </p:spTree>
    <p:extLst>
      <p:ext uri="{BB962C8B-B14F-4D97-AF65-F5344CB8AC3E}">
        <p14:creationId xmlns:p14="http://schemas.microsoft.com/office/powerpoint/2010/main" val="11442937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9514" y="856621"/>
            <a:ext cx="9905999" cy="3541714"/>
          </a:xfrm>
        </p:spPr>
        <p:txBody>
          <a:bodyPr/>
          <a:lstStyle/>
          <a:p>
            <a:pPr algn="just"/>
            <a:r>
              <a:rPr lang="en-US" sz="2600" dirty="0"/>
              <a:t>The </a:t>
            </a:r>
            <a:r>
              <a:rPr lang="en-US" sz="2600" b="1" dirty="0"/>
              <a:t>ego-network</a:t>
            </a:r>
            <a:r>
              <a:rPr lang="en-US" sz="2600" dirty="0"/>
              <a:t> of retrieved nodes is treated as the </a:t>
            </a:r>
            <a:r>
              <a:rPr lang="en-US" sz="2600" b="1" dirty="0"/>
              <a:t>final retrieval result</a:t>
            </a:r>
            <a:r>
              <a:rPr lang="en-US" sz="2600" dirty="0" smtClean="0"/>
              <a:t>.</a:t>
            </a:r>
          </a:p>
          <a:p>
            <a:pPr algn="just"/>
            <a:r>
              <a:rPr lang="en-US" sz="2600" dirty="0"/>
              <a:t>This approach </a:t>
            </a:r>
            <a:r>
              <a:rPr lang="en-US" sz="2600" b="1" dirty="0"/>
              <a:t>simplifies retrieval</a:t>
            </a:r>
            <a:r>
              <a:rPr lang="en-US" sz="2600" dirty="0"/>
              <a:t> and effectively supports </a:t>
            </a:r>
            <a:r>
              <a:rPr lang="en-US" sz="2600" b="1" dirty="0"/>
              <a:t>global-level tasks</a:t>
            </a:r>
            <a:r>
              <a:rPr lang="en-US" sz="2600" dirty="0" smtClean="0"/>
              <a:t>.</a:t>
            </a:r>
          </a:p>
          <a:p>
            <a:pPr algn="just"/>
            <a:r>
              <a:rPr lang="en-US" sz="2600" dirty="0"/>
              <a:t>However, retrieving </a:t>
            </a:r>
            <a:r>
              <a:rPr lang="en-US" sz="2600" b="1" dirty="0"/>
              <a:t>all immediate neighbors</a:t>
            </a:r>
            <a:r>
              <a:rPr lang="en-US" sz="2600" dirty="0"/>
              <a:t> may introduce </a:t>
            </a:r>
            <a:r>
              <a:rPr lang="en-US" sz="2600" b="1" dirty="0"/>
              <a:t>noise</a:t>
            </a:r>
            <a:r>
              <a:rPr lang="en-US" sz="2600" dirty="0"/>
              <a:t>, which can negatively affect answer </a:t>
            </a:r>
            <a:r>
              <a:rPr lang="en-US" sz="2600" dirty="0" smtClean="0"/>
              <a:t>quality</a:t>
            </a:r>
          </a:p>
          <a:p>
            <a:pPr algn="just"/>
            <a:endParaRPr lang="en-US" dirty="0"/>
          </a:p>
        </p:txBody>
      </p:sp>
    </p:spTree>
    <p:extLst>
      <p:ext uri="{BB962C8B-B14F-4D97-AF65-F5344CB8AC3E}">
        <p14:creationId xmlns:p14="http://schemas.microsoft.com/office/powerpoint/2010/main" val="274000203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cap="none" dirty="0" smtClean="0">
                <a:solidFill>
                  <a:srgbClr val="9900CC"/>
                </a:solidFill>
              </a:rPr>
              <a:t>Indexing-</a:t>
            </a:r>
            <a:r>
              <a:rPr lang="en-US" cap="none" dirty="0">
                <a:solidFill>
                  <a:srgbClr val="9900CC"/>
                </a:solidFill>
              </a:rPr>
              <a:t>G</a:t>
            </a:r>
            <a:r>
              <a:rPr lang="en-US" cap="none" dirty="0" smtClean="0">
                <a:solidFill>
                  <a:srgbClr val="9900CC"/>
                </a:solidFill>
              </a:rPr>
              <a:t>raph construction</a:t>
            </a:r>
            <a:endParaRPr lang="en-US" cap="none" dirty="0">
              <a:solidFill>
                <a:srgbClr val="9900CC"/>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2" y="1313821"/>
                <a:ext cx="9905999" cy="5065714"/>
              </a:xfrm>
            </p:spPr>
            <p:txBody>
              <a:bodyPr>
                <a:normAutofit lnSpcReduction="10000"/>
              </a:bodyPr>
              <a:lstStyle/>
              <a:p>
                <a:pPr algn="just"/>
                <a:r>
                  <a:rPr lang="en-US" sz="2600" b="1" dirty="0" smtClean="0"/>
                  <a:t>LLMs identify entities and interrelations</a:t>
                </a:r>
                <a:r>
                  <a:rPr lang="en-US" sz="2600" dirty="0"/>
                  <a:t> within the text </a:t>
                </a:r>
                <a:r>
                  <a:rPr lang="en-US" sz="2600" dirty="0" smtClean="0"/>
                  <a:t>database</a:t>
                </a:r>
              </a:p>
              <a:p>
                <a:pPr algn="just"/>
                <a:r>
                  <a:rPr lang="en-US" sz="2600" dirty="0"/>
                  <a:t>The indexing graph is defined as </a:t>
                </a:r>
                <a14:m>
                  <m:oMath xmlns:m="http://schemas.openxmlformats.org/officeDocument/2006/math">
                    <m:r>
                      <a:rPr lang="en-US" sz="2600" b="1" i="1" dirty="0" smtClean="0">
                        <a:latin typeface="Cambria Math" panose="02040503050406030204" pitchFamily="18" charset="0"/>
                      </a:rPr>
                      <m:t>𝑮</m:t>
                    </m:r>
                    <m:r>
                      <a:rPr lang="en-US" sz="2600" b="1" i="1" dirty="0" smtClean="0">
                        <a:latin typeface="Cambria Math" panose="02040503050406030204" pitchFamily="18" charset="0"/>
                      </a:rPr>
                      <m:t> = (</m:t>
                    </m:r>
                    <m:r>
                      <a:rPr lang="en-US" sz="2600" b="1" i="1" dirty="0" smtClean="0">
                        <a:latin typeface="Cambria Math" panose="02040503050406030204" pitchFamily="18" charset="0"/>
                      </a:rPr>
                      <m:t>𝑽</m:t>
                    </m:r>
                    <m:r>
                      <a:rPr lang="en-US" sz="2600" b="1" i="1" dirty="0" smtClean="0">
                        <a:latin typeface="Cambria Math" panose="02040503050406030204" pitchFamily="18" charset="0"/>
                      </a:rPr>
                      <m:t>, </m:t>
                    </m:r>
                    <m:r>
                      <a:rPr lang="en-US" sz="2600" b="1" i="1" dirty="0" smtClean="0">
                        <a:latin typeface="Cambria Math" panose="02040503050406030204" pitchFamily="18" charset="0"/>
                      </a:rPr>
                      <m:t>𝑬</m:t>
                    </m:r>
                    <m:r>
                      <a:rPr lang="en-US" sz="2600" b="1" i="1" dirty="0" smtClean="0">
                        <a:latin typeface="Cambria Math" panose="02040503050406030204" pitchFamily="18" charset="0"/>
                      </a:rPr>
                      <m:t>, </m:t>
                    </m:r>
                    <m:sSub>
                      <m:sSubPr>
                        <m:ctrlPr>
                          <a:rPr lang="en-US" sz="2600" b="1" i="1" dirty="0" smtClean="0">
                            <a:latin typeface="Cambria Math" panose="02040503050406030204" pitchFamily="18" charset="0"/>
                          </a:rPr>
                        </m:ctrlPr>
                      </m:sSubPr>
                      <m:e>
                        <m:r>
                          <a:rPr lang="en-US" sz="2600" b="1" i="1" dirty="0" smtClean="0">
                            <a:latin typeface="Cambria Math" panose="02040503050406030204" pitchFamily="18" charset="0"/>
                          </a:rPr>
                          <m:t>𝑲</m:t>
                        </m:r>
                      </m:e>
                      <m:sub>
                        <m:r>
                          <a:rPr lang="en-US" sz="2600" b="1" i="1" dirty="0" smtClean="0">
                            <a:latin typeface="Cambria Math" panose="02040503050406030204" pitchFamily="18" charset="0"/>
                          </a:rPr>
                          <m:t>𝒗</m:t>
                        </m:r>
                      </m:sub>
                    </m:sSub>
                    <m:r>
                      <a:rPr lang="en-US" sz="2600" b="1" i="1" dirty="0" smtClean="0">
                        <a:latin typeface="Cambria Math" panose="02040503050406030204" pitchFamily="18" charset="0"/>
                      </a:rPr>
                      <m:t>, </m:t>
                    </m:r>
                    <m:r>
                      <a:rPr lang="en-US" sz="2600" b="1" i="1" dirty="0" smtClean="0">
                        <a:latin typeface="Cambria Math" panose="02040503050406030204" pitchFamily="18" charset="0"/>
                      </a:rPr>
                      <m:t>𝑻</m:t>
                    </m:r>
                    <m:r>
                      <a:rPr lang="en-US" sz="2600" b="1" i="1" dirty="0" smtClean="0">
                        <a:latin typeface="Cambria Math" panose="02040503050406030204" pitchFamily="18" charset="0"/>
                      </a:rPr>
                      <m:t>)</m:t>
                    </m:r>
                  </m:oMath>
                </a14:m>
                <a:endParaRPr lang="en-US" sz="2600" b="1" dirty="0" smtClean="0"/>
              </a:p>
              <a:p>
                <a:pPr lvl="1" algn="just"/>
                <a:r>
                  <a:rPr lang="en-US" sz="2600" b="1" dirty="0"/>
                  <a:t>V (nodes):</a:t>
                </a:r>
                <a:r>
                  <a:rPr lang="en-US" sz="2600" dirty="0"/>
                  <a:t> </a:t>
                </a:r>
                <a:r>
                  <a:rPr lang="en-US" sz="2600" dirty="0" smtClean="0"/>
                  <a:t>entities</a:t>
                </a:r>
              </a:p>
              <a:p>
                <a:pPr lvl="1" algn="just"/>
                <a:r>
                  <a:rPr lang="en-US" sz="2600" b="1" dirty="0"/>
                  <a:t>E (edges):</a:t>
                </a:r>
                <a:r>
                  <a:rPr lang="en-US" sz="2600" dirty="0"/>
                  <a:t> relationships between </a:t>
                </a:r>
                <a:r>
                  <a:rPr lang="en-US" sz="2600" dirty="0" smtClean="0"/>
                  <a:t>entities</a:t>
                </a:r>
              </a:p>
              <a:p>
                <a:pPr algn="just"/>
                <a:r>
                  <a:rPr lang="en-US" sz="2600" dirty="0"/>
                  <a:t>Each node </a:t>
                </a:r>
                <a:r>
                  <a:rPr lang="en-US" sz="2600" b="1" dirty="0"/>
                  <a:t>v ∈ V</a:t>
                </a:r>
                <a:r>
                  <a:rPr lang="en-US" sz="2600" dirty="0"/>
                  <a:t> includes</a:t>
                </a:r>
                <a:r>
                  <a:rPr lang="en-US" sz="2600" dirty="0" smtClean="0"/>
                  <a:t>:</a:t>
                </a:r>
              </a:p>
              <a:p>
                <a:pPr lvl="1" algn="just"/>
                <a:r>
                  <a:rPr lang="en-US" sz="2600" b="1" dirty="0"/>
                  <a:t>Identifier </a:t>
                </a:r>
                <a14:m>
                  <m:oMath xmlns:m="http://schemas.openxmlformats.org/officeDocument/2006/math">
                    <m:sSub>
                      <m:sSubPr>
                        <m:ctrlPr>
                          <a:rPr lang="en-US" sz="2600" b="1" i="1" smtClean="0">
                            <a:latin typeface="Cambria Math" panose="02040503050406030204" pitchFamily="18" charset="0"/>
                          </a:rPr>
                        </m:ctrlPr>
                      </m:sSubPr>
                      <m:e>
                        <m:r>
                          <a:rPr lang="en-US" sz="2600" b="1" i="1" smtClean="0">
                            <a:latin typeface="Cambria Math" panose="02040503050406030204" pitchFamily="18" charset="0"/>
                          </a:rPr>
                          <m:t>𝑲</m:t>
                        </m:r>
                      </m:e>
                      <m:sub>
                        <m:r>
                          <a:rPr lang="en-US" sz="2600" b="1" i="1" smtClean="0">
                            <a:latin typeface="Cambria Math" panose="02040503050406030204" pitchFamily="18" charset="0"/>
                          </a:rPr>
                          <m:t>𝒗</m:t>
                        </m:r>
                      </m:sub>
                    </m:sSub>
                  </m:oMath>
                </a14:m>
                <a:r>
                  <a:rPr lang="en-US" sz="2600" dirty="0" smtClean="0"/>
                  <a:t> </a:t>
                </a:r>
                <a:r>
                  <a:rPr lang="en-US" sz="2600" dirty="0"/>
                  <a:t>(e.g., entity name</a:t>
                </a:r>
                <a:r>
                  <a:rPr lang="en-US" sz="2600" dirty="0" smtClean="0"/>
                  <a:t>)</a:t>
                </a:r>
              </a:p>
              <a:p>
                <a:pPr lvl="1" algn="just"/>
                <a:r>
                  <a:rPr lang="en-US" sz="2600" b="1" dirty="0"/>
                  <a:t>Textual chunk </a:t>
                </a:r>
                <a14:m>
                  <m:oMath xmlns:m="http://schemas.openxmlformats.org/officeDocument/2006/math">
                    <m:sSub>
                      <m:sSubPr>
                        <m:ctrlPr>
                          <a:rPr lang="en-US" sz="2600" b="1" i="1" smtClean="0">
                            <a:latin typeface="Cambria Math" panose="02040503050406030204" pitchFamily="18" charset="0"/>
                          </a:rPr>
                        </m:ctrlPr>
                      </m:sSubPr>
                      <m:e>
                        <m:r>
                          <a:rPr lang="en-US" sz="2600" b="1" i="1" smtClean="0">
                            <a:latin typeface="Cambria Math" panose="02040503050406030204" pitchFamily="18" charset="0"/>
                          </a:rPr>
                          <m:t>𝒕</m:t>
                        </m:r>
                      </m:e>
                      <m:sub>
                        <m:r>
                          <a:rPr lang="en-US" sz="2600" b="1" i="1" smtClean="0">
                            <a:latin typeface="Cambria Math" panose="02040503050406030204" pitchFamily="18" charset="0"/>
                          </a:rPr>
                          <m:t>𝒗</m:t>
                        </m:r>
                      </m:sub>
                    </m:sSub>
                  </m:oMath>
                </a14:m>
                <a:r>
                  <a:rPr lang="en-US" sz="2600" dirty="0" smtClean="0"/>
                  <a:t> </a:t>
                </a:r>
                <a:r>
                  <a:rPr lang="en-US" sz="2600" dirty="0"/>
                  <a:t>(associated text</a:t>
                </a:r>
                <a:r>
                  <a:rPr lang="en-US" sz="2600" dirty="0" smtClean="0"/>
                  <a:t>)</a:t>
                </a:r>
              </a:p>
              <a:p>
                <a:pPr algn="just"/>
                <a:r>
                  <a:rPr lang="en-US" sz="2600" dirty="0"/>
                  <a:t>Each edge </a:t>
                </a:r>
                <a14:m>
                  <m:oMath xmlns:m="http://schemas.openxmlformats.org/officeDocument/2006/math">
                    <m:r>
                      <a:rPr lang="en-US" sz="2600" b="1" i="1" dirty="0" smtClean="0">
                        <a:latin typeface="Cambria Math" panose="02040503050406030204" pitchFamily="18" charset="0"/>
                      </a:rPr>
                      <m:t>𝒆</m:t>
                    </m:r>
                    <m:r>
                      <a:rPr lang="en-US" sz="2600" b="1" i="1" dirty="0" smtClean="0">
                        <a:latin typeface="Cambria Math" panose="02040503050406030204" pitchFamily="18" charset="0"/>
                      </a:rPr>
                      <m:t> ∈ </m:t>
                    </m:r>
                    <m:r>
                      <a:rPr lang="en-US" sz="2600" b="1" i="1" dirty="0" smtClean="0">
                        <a:latin typeface="Cambria Math" panose="02040503050406030204" pitchFamily="18" charset="0"/>
                      </a:rPr>
                      <m:t>𝑬</m:t>
                    </m:r>
                    <m:r>
                      <a:rPr lang="en-US" sz="2600" i="1" dirty="0">
                        <a:latin typeface="Cambria Math" panose="02040503050406030204" pitchFamily="18" charset="0"/>
                      </a:rPr>
                      <m:t> </m:t>
                    </m:r>
                  </m:oMath>
                </a14:m>
                <a:r>
                  <a:rPr lang="en-US" sz="2600" dirty="0"/>
                  <a:t>includes</a:t>
                </a:r>
                <a:r>
                  <a:rPr lang="en-US" sz="2600" dirty="0" smtClean="0"/>
                  <a:t>:</a:t>
                </a:r>
                <a:endParaRPr lang="en-US" sz="2600" dirty="0"/>
              </a:p>
              <a:p>
                <a:pPr lvl="1" algn="just"/>
                <a:r>
                  <a:rPr lang="en-US" sz="2600" dirty="0"/>
                  <a:t>A </a:t>
                </a:r>
                <a:r>
                  <a:rPr lang="en-US" sz="2600" b="1" dirty="0"/>
                  <a:t>descriptive textual chunk </a:t>
                </a:r>
                <a14:m>
                  <m:oMath xmlns:m="http://schemas.openxmlformats.org/officeDocument/2006/math">
                    <m:sSub>
                      <m:sSubPr>
                        <m:ctrlPr>
                          <a:rPr lang="en-US" sz="2600" b="1" i="1" dirty="0" smtClean="0">
                            <a:latin typeface="Cambria Math" panose="02040503050406030204" pitchFamily="18" charset="0"/>
                          </a:rPr>
                        </m:ctrlPr>
                      </m:sSubPr>
                      <m:e>
                        <m:r>
                          <a:rPr lang="en-US" sz="2600" b="1" i="1" dirty="0" smtClean="0">
                            <a:latin typeface="Cambria Math" panose="02040503050406030204" pitchFamily="18" charset="0"/>
                          </a:rPr>
                          <m:t>𝒕</m:t>
                        </m:r>
                      </m:e>
                      <m:sub>
                        <m:r>
                          <a:rPr lang="en-US" sz="2600" b="1" i="1" dirty="0" smtClean="0">
                            <a:latin typeface="Cambria Math" panose="02040503050406030204" pitchFamily="18" charset="0"/>
                          </a:rPr>
                          <m:t>𝒆</m:t>
                        </m:r>
                      </m:sub>
                    </m:sSub>
                  </m:oMath>
                </a14:m>
                <a:r>
                  <a:rPr lang="en-US" sz="2600" dirty="0" smtClean="0"/>
                  <a:t>to </a:t>
                </a:r>
                <a:r>
                  <a:rPr lang="en-US" sz="2600" dirty="0"/>
                  <a:t>enrich relational context</a:t>
                </a:r>
              </a:p>
              <a:p>
                <a:pPr algn="just"/>
                <a:endParaRPr lang="en-US" dirty="0" smtClean="0"/>
              </a:p>
              <a:p>
                <a:pPr algn="just"/>
                <a:endParaRPr lang="en-US" dirty="0" smtClean="0"/>
              </a:p>
              <a:p>
                <a:pPr algn="just"/>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2" y="1313821"/>
                <a:ext cx="9905999" cy="5065714"/>
              </a:xfrm>
              <a:blipFill>
                <a:blip r:embed="rId2"/>
                <a:stretch>
                  <a:fillRect l="-1415" t="-2407"/>
                </a:stretch>
              </a:blipFill>
            </p:spPr>
            <p:txBody>
              <a:bodyPr/>
              <a:lstStyle/>
              <a:p>
                <a:r>
                  <a:rPr lang="en-US">
                    <a:noFill/>
                  </a:rPr>
                  <a:t> </a:t>
                </a:r>
              </a:p>
            </p:txBody>
          </p:sp>
        </mc:Fallback>
      </mc:AlternateContent>
    </p:spTree>
    <p:extLst>
      <p:ext uri="{BB962C8B-B14F-4D97-AF65-F5344CB8AC3E}">
        <p14:creationId xmlns:p14="http://schemas.microsoft.com/office/powerpoint/2010/main" val="110430565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769273" y="537642"/>
                <a:ext cx="10979704" cy="5905688"/>
              </a:xfrm>
            </p:spPr>
            <p:txBody>
              <a:bodyPr>
                <a:normAutofit/>
              </a:bodyPr>
              <a:lstStyle/>
              <a:p>
                <a:pPr algn="just"/>
                <a:r>
                  <a:rPr lang="en-US" dirty="0"/>
                  <a:t>Given a query </a:t>
                </a:r>
                <a:r>
                  <a:rPr lang="en-US" b="1" dirty="0"/>
                  <a:t>q</a:t>
                </a:r>
                <a:r>
                  <a:rPr lang="en-US" dirty="0"/>
                  <a:t>, a </a:t>
                </a:r>
                <a:r>
                  <a:rPr lang="en-US" b="1" dirty="0"/>
                  <a:t>graph-oriented retriever</a:t>
                </a:r>
                <a:r>
                  <a:rPr lang="en-US" dirty="0"/>
                  <a:t> selects relevant </a:t>
                </a:r>
                <a:r>
                  <a:rPr lang="en-US" b="1" dirty="0"/>
                  <a:t>nodes and edges</a:t>
                </a:r>
                <a:r>
                  <a:rPr lang="en-US" dirty="0"/>
                  <a:t> from the indexing graph</a:t>
                </a:r>
                <a:r>
                  <a:rPr lang="en-US" dirty="0" smtClean="0"/>
                  <a:t>.</a:t>
                </a:r>
              </a:p>
              <a:p>
                <a:pPr algn="just"/>
                <a:r>
                  <a:rPr lang="en-US" dirty="0"/>
                  <a:t>The </a:t>
                </a:r>
                <a:r>
                  <a:rPr lang="en-US" b="1" dirty="0"/>
                  <a:t>textual chunks</a:t>
                </a:r>
                <a:r>
                  <a:rPr lang="en-US" dirty="0"/>
                  <a:t> of retrieved nodes and edges are combined with the query</a:t>
                </a:r>
                <a:r>
                  <a:rPr lang="en-US" dirty="0" smtClean="0"/>
                  <a:t>.</a:t>
                </a:r>
              </a:p>
              <a:p>
                <a:pPr algn="just"/>
                <a:r>
                  <a:rPr lang="en-US" dirty="0"/>
                  <a:t>An </a:t>
                </a:r>
                <a:r>
                  <a:rPr lang="en-US" b="1" dirty="0"/>
                  <a:t>LLM generator</a:t>
                </a:r>
                <a:r>
                  <a:rPr lang="en-US" dirty="0"/>
                  <a:t> produces the final answer using the retrieved graph </a:t>
                </a:r>
                <a:r>
                  <a:rPr lang="en-US" dirty="0" smtClean="0"/>
                  <a:t>context.</a:t>
                </a:r>
              </a:p>
              <a:p>
                <a:pPr algn="just"/>
                <a:r>
                  <a:rPr lang="en-US" dirty="0"/>
                  <a:t>The graph-based RAG process is summarized as</a:t>
                </a:r>
                <a:r>
                  <a:rPr lang="en-US" dirty="0" smtClean="0"/>
                  <a:t>:</a:t>
                </a:r>
              </a:p>
              <a:p>
                <a:pPr lvl="1" algn="just"/>
                <a14:m>
                  <m:oMath xmlns:m="http://schemas.openxmlformats.org/officeDocument/2006/math">
                    <m:r>
                      <a:rPr lang="pt-BR" sz="2400" i="1" dirty="0" smtClean="0">
                        <a:latin typeface="Cambria Math" panose="02040503050406030204" pitchFamily="18" charset="0"/>
                      </a:rPr>
                      <m:t>𝐴</m:t>
                    </m:r>
                    <m:r>
                      <a:rPr lang="pt-BR" sz="2400" i="1" dirty="0" smtClean="0">
                        <a:latin typeface="Cambria Math" panose="02040503050406030204" pitchFamily="18" charset="0"/>
                      </a:rPr>
                      <m:t>(</m:t>
                    </m:r>
                    <m:r>
                      <a:rPr lang="pt-BR" sz="2400" i="1" dirty="0" smtClean="0">
                        <a:latin typeface="Cambria Math" panose="02040503050406030204" pitchFamily="18" charset="0"/>
                      </a:rPr>
                      <m:t>𝑞</m:t>
                    </m:r>
                    <m:r>
                      <a:rPr lang="pt-BR" sz="2400" i="1" dirty="0" smtClean="0">
                        <a:latin typeface="Cambria Math" panose="02040503050406030204" pitchFamily="18" charset="0"/>
                      </a:rPr>
                      <m:t>, </m:t>
                    </m:r>
                    <m:r>
                      <a:rPr lang="pt-BR" sz="2400" i="1" dirty="0" smtClean="0">
                        <a:latin typeface="Cambria Math" panose="02040503050406030204" pitchFamily="18" charset="0"/>
                      </a:rPr>
                      <m:t>𝐺</m:t>
                    </m:r>
                    <m:r>
                      <a:rPr lang="pt-BR" sz="2400" i="1" dirty="0" smtClean="0">
                        <a:latin typeface="Cambria Math" panose="02040503050406030204" pitchFamily="18" charset="0"/>
                      </a:rPr>
                      <m:t>) = </m:t>
                    </m:r>
                    <m:r>
                      <a:rPr lang="pt-BR" sz="2400" i="1" dirty="0" smtClean="0">
                        <a:latin typeface="Cambria Math" panose="02040503050406030204" pitchFamily="18" charset="0"/>
                      </a:rPr>
                      <m:t>𝐹</m:t>
                    </m:r>
                    <m:r>
                      <a:rPr lang="pt-BR" sz="2400" i="1" dirty="0" smtClean="0">
                        <a:latin typeface="Cambria Math" panose="02040503050406030204" pitchFamily="18" charset="0"/>
                      </a:rPr>
                      <m:t> ∘ </m:t>
                    </m:r>
                    <m:r>
                      <a:rPr lang="pt-BR" sz="2400" i="1" dirty="0" smtClean="0">
                        <a:latin typeface="Cambria Math" panose="02040503050406030204" pitchFamily="18" charset="0"/>
                      </a:rPr>
                      <m:t>𝑀</m:t>
                    </m:r>
                    <m:r>
                      <a:rPr lang="pt-BR" sz="2400" i="1" dirty="0" smtClean="0">
                        <a:latin typeface="Cambria Math" panose="02040503050406030204" pitchFamily="18" charset="0"/>
                      </a:rPr>
                      <m:t>(</m:t>
                    </m:r>
                    <m:r>
                      <a:rPr lang="pt-BR" sz="2400" i="1" dirty="0" smtClean="0">
                        <a:latin typeface="Cambria Math" panose="02040503050406030204" pitchFamily="18" charset="0"/>
                      </a:rPr>
                      <m:t>𝑞</m:t>
                    </m:r>
                    <m:r>
                      <a:rPr lang="pt-BR" sz="2400" i="1" dirty="0" smtClean="0">
                        <a:latin typeface="Cambria Math" panose="02040503050406030204" pitchFamily="18" charset="0"/>
                      </a:rPr>
                      <m:t>; </m:t>
                    </m:r>
                    <m:r>
                      <a:rPr lang="pt-BR" sz="2400" i="1" dirty="0" smtClean="0">
                        <a:latin typeface="Cambria Math" panose="02040503050406030204" pitchFamily="18" charset="0"/>
                      </a:rPr>
                      <m:t>𝑅</m:t>
                    </m:r>
                    <m:r>
                      <a:rPr lang="pt-BR" sz="2400" i="1" dirty="0" smtClean="0">
                        <a:latin typeface="Cambria Math" panose="02040503050406030204" pitchFamily="18" charset="0"/>
                      </a:rPr>
                      <m:t>(</m:t>
                    </m:r>
                    <m:r>
                      <a:rPr lang="pt-BR" sz="2400" i="1" dirty="0" smtClean="0">
                        <a:latin typeface="Cambria Math" panose="02040503050406030204" pitchFamily="18" charset="0"/>
                      </a:rPr>
                      <m:t>𝑞</m:t>
                    </m:r>
                    <m:r>
                      <a:rPr lang="pt-BR" sz="2400" i="1" dirty="0" smtClean="0">
                        <a:latin typeface="Cambria Math" panose="02040503050406030204" pitchFamily="18" charset="0"/>
                      </a:rPr>
                      <m:t>, </m:t>
                    </m:r>
                    <m:r>
                      <a:rPr lang="pt-BR" sz="2400" i="1" dirty="0" smtClean="0">
                        <a:latin typeface="Cambria Math" panose="02040503050406030204" pitchFamily="18" charset="0"/>
                      </a:rPr>
                      <m:t>𝐺</m:t>
                    </m:r>
                    <m:r>
                      <a:rPr lang="pt-BR" sz="2400" i="1" dirty="0" smtClean="0">
                        <a:latin typeface="Cambria Math" panose="02040503050406030204" pitchFamily="18" charset="0"/>
                      </a:rPr>
                      <m:t>)</m:t>
                    </m:r>
                  </m:oMath>
                </a14:m>
                <a:endParaRPr lang="en-US" sz="2400" dirty="0"/>
              </a:p>
              <a:p>
                <a:pPr lvl="1" algn="just"/>
                <a:r>
                  <a:rPr lang="en-US" sz="2400" dirty="0"/>
                  <a:t>Where</a:t>
                </a:r>
                <a:r>
                  <a:rPr lang="en-US" sz="2400" dirty="0" smtClean="0"/>
                  <a:t>:</a:t>
                </a:r>
              </a:p>
              <a:p>
                <a:pPr lvl="2" algn="just"/>
                <a:r>
                  <a:rPr lang="en-US" sz="2400" b="1" dirty="0"/>
                  <a:t>R(q, G):</a:t>
                </a:r>
                <a:r>
                  <a:rPr lang="en-US" sz="2400" dirty="0"/>
                  <a:t> graph-oriented </a:t>
                </a:r>
                <a:r>
                  <a:rPr lang="en-US" sz="2400" dirty="0" smtClean="0"/>
                  <a:t>retriever</a:t>
                </a:r>
              </a:p>
              <a:p>
                <a:pPr lvl="2" algn="just"/>
                <a:r>
                  <a:rPr lang="en-US" sz="2400" b="1" dirty="0"/>
                  <a:t>M:</a:t>
                </a:r>
                <a:r>
                  <a:rPr lang="en-US" sz="2400" dirty="0"/>
                  <a:t> prompt </a:t>
                </a:r>
                <a:r>
                  <a:rPr lang="en-US" sz="2400" dirty="0" smtClean="0"/>
                  <a:t>template</a:t>
                </a:r>
              </a:p>
              <a:p>
                <a:pPr lvl="2" algn="just"/>
                <a:r>
                  <a:rPr lang="en-US" sz="2400" b="1" dirty="0"/>
                  <a:t>F:</a:t>
                </a:r>
                <a:r>
                  <a:rPr lang="en-US" sz="2400" dirty="0"/>
                  <a:t> LLM </a:t>
                </a:r>
                <a:r>
                  <a:rPr lang="en-US" sz="2400" dirty="0" smtClean="0"/>
                  <a:t>generator</a:t>
                </a:r>
              </a:p>
              <a:p>
                <a:pPr lvl="2" algn="just"/>
                <a:r>
                  <a:rPr lang="en-US" sz="2400" b="1" dirty="0"/>
                  <a:t>A:</a:t>
                </a:r>
                <a:r>
                  <a:rPr lang="en-US" sz="2400" dirty="0"/>
                  <a:t> retrieval-augmented generation output</a:t>
                </a:r>
                <a:endParaRPr lang="pt-BR" sz="2400"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769273" y="537642"/>
                <a:ext cx="10979704" cy="5905688"/>
              </a:xfrm>
              <a:blipFill>
                <a:blip r:embed="rId3"/>
                <a:stretch>
                  <a:fillRect l="-1110" t="-1342" r="-888"/>
                </a:stretch>
              </a:blipFill>
            </p:spPr>
            <p:txBody>
              <a:bodyPr/>
              <a:lstStyle/>
              <a:p>
                <a:r>
                  <a:rPr lang="en-US">
                    <a:noFill/>
                  </a:rPr>
                  <a:t> </a:t>
                </a:r>
              </a:p>
            </p:txBody>
          </p:sp>
        </mc:Fallback>
      </mc:AlternateContent>
    </p:spTree>
    <p:extLst>
      <p:ext uri="{BB962C8B-B14F-4D97-AF65-F5344CB8AC3E}">
        <p14:creationId xmlns:p14="http://schemas.microsoft.com/office/powerpoint/2010/main" val="2364995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cap="none" dirty="0">
                <a:solidFill>
                  <a:srgbClr val="FF3399"/>
                </a:solidFill>
              </a:rPr>
              <a:t>N</a:t>
            </a:r>
            <a:r>
              <a:rPr lang="en-US" cap="none" dirty="0" smtClean="0">
                <a:solidFill>
                  <a:srgbClr val="FF3399"/>
                </a:solidFill>
              </a:rPr>
              <a:t>ode </a:t>
            </a:r>
            <a:r>
              <a:rPr lang="en-US" cap="none" dirty="0">
                <a:solidFill>
                  <a:srgbClr val="FF3399"/>
                </a:solidFill>
              </a:rPr>
              <a:t>R</a:t>
            </a:r>
            <a:r>
              <a:rPr lang="en-US" cap="none" dirty="0" smtClean="0">
                <a:solidFill>
                  <a:srgbClr val="FF3399"/>
                </a:solidFill>
              </a:rPr>
              <a:t>etrieval</a:t>
            </a:r>
            <a:endParaRPr lang="en-US" cap="none" dirty="0">
              <a:solidFill>
                <a:srgbClr val="FF3399"/>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2" y="1228760"/>
                <a:ext cx="9905999" cy="4374598"/>
              </a:xfrm>
            </p:spPr>
            <p:txBody>
              <a:bodyPr>
                <a:noAutofit/>
              </a:bodyPr>
              <a:lstStyle/>
              <a:p>
                <a:r>
                  <a:rPr lang="en-US" sz="2600" dirty="0" smtClean="0"/>
                  <a:t>Node </a:t>
                </a:r>
                <a:r>
                  <a:rPr lang="en-US" sz="2600" dirty="0"/>
                  <a:t>retrieval identifies </a:t>
                </a:r>
                <a:r>
                  <a:rPr lang="en-US" sz="2600" b="1" dirty="0"/>
                  <a:t>relevant graph nodes</a:t>
                </a:r>
                <a:r>
                  <a:rPr lang="en-US" sz="2600" dirty="0"/>
                  <a:t> based on the input query.</a:t>
                </a:r>
              </a:p>
              <a:p>
                <a:r>
                  <a:rPr lang="en-US" sz="2600" dirty="0"/>
                  <a:t>An </a:t>
                </a:r>
                <a:r>
                  <a:rPr lang="en-US" sz="2600" b="1" dirty="0"/>
                  <a:t>LLM extracts keywords</a:t>
                </a:r>
                <a:r>
                  <a:rPr lang="en-US" sz="2600" dirty="0"/>
                  <a:t> from the query.</a:t>
                </a:r>
              </a:p>
              <a:p>
                <a:r>
                  <a:rPr lang="en-US" sz="2600" dirty="0"/>
                  <a:t>The extracted keywords are denoted as </a:t>
                </a:r>
                <a14:m>
                  <m:oMath xmlns:m="http://schemas.openxmlformats.org/officeDocument/2006/math">
                    <m:sSub>
                      <m:sSubPr>
                        <m:ctrlPr>
                          <a:rPr lang="en-US" sz="2600" b="0" i="1" dirty="0" smtClean="0">
                            <a:latin typeface="Cambria Math" panose="02040503050406030204" pitchFamily="18" charset="0"/>
                          </a:rPr>
                        </m:ctrlPr>
                      </m:sSubPr>
                      <m:e>
                        <m:r>
                          <a:rPr lang="en-US" sz="2600" b="1" i="1" dirty="0" smtClean="0">
                            <a:latin typeface="Cambria Math" panose="02040503050406030204" pitchFamily="18" charset="0"/>
                          </a:rPr>
                          <m:t>𝑲</m:t>
                        </m:r>
                      </m:e>
                      <m:sub>
                        <m:r>
                          <a:rPr lang="en-US" sz="2600" b="1" i="0" dirty="0" smtClean="0">
                            <a:latin typeface="Cambria Math" panose="02040503050406030204" pitchFamily="18" charset="0"/>
                          </a:rPr>
                          <m:t>𝐪</m:t>
                        </m:r>
                      </m:sub>
                    </m:sSub>
                  </m:oMath>
                </a14:m>
                <a:r>
                  <a:rPr lang="en-US" sz="2600" dirty="0" smtClean="0"/>
                  <a:t>.</a:t>
                </a:r>
              </a:p>
              <a:p>
                <a:r>
                  <a:rPr lang="en-US" sz="2600" b="1" dirty="0" smtClean="0"/>
                  <a:t>Dense </a:t>
                </a:r>
                <a:r>
                  <a:rPr lang="en-US" sz="2600" b="1" dirty="0"/>
                  <a:t>vector matching</a:t>
                </a:r>
                <a:r>
                  <a:rPr lang="en-US" sz="2600" dirty="0"/>
                  <a:t> is used to retrieve nodes from the indexing graph </a:t>
                </a:r>
                <a:r>
                  <a:rPr lang="en-US" sz="2600" b="1" dirty="0"/>
                  <a:t>G</a:t>
                </a:r>
                <a:r>
                  <a:rPr lang="en-US" sz="2600" dirty="0"/>
                  <a:t>.</a:t>
                </a:r>
              </a:p>
              <a:p>
                <a:r>
                  <a:rPr lang="en-US" sz="2600" dirty="0"/>
                  <a:t>Relevance between a keyword and a node is measured by </a:t>
                </a:r>
                <a:r>
                  <a:rPr lang="en-US" sz="2600" b="1" dirty="0"/>
                  <a:t>semantic similarity</a:t>
                </a:r>
                <a:r>
                  <a:rPr lang="en-US" sz="2600" dirty="0"/>
                  <a:t>.</a:t>
                </a:r>
              </a:p>
              <a:p>
                <a:r>
                  <a:rPr lang="en-US" sz="2600" b="1" dirty="0"/>
                  <a:t>Cosine similarity</a:t>
                </a:r>
                <a:r>
                  <a:rPr lang="en-US" sz="2600" dirty="0"/>
                  <a:t> is used in the embedding space.</a:t>
                </a:r>
              </a:p>
              <a:p>
                <a:endParaRPr lang="en-US"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2" y="1228760"/>
                <a:ext cx="9905999" cy="4374598"/>
              </a:xfrm>
              <a:blipFill>
                <a:blip r:embed="rId2"/>
                <a:stretch>
                  <a:fillRect l="-1415" t="-2092" b="-19107"/>
                </a:stretch>
              </a:blipFill>
            </p:spPr>
            <p:txBody>
              <a:bodyPr/>
              <a:lstStyle/>
              <a:p>
                <a:r>
                  <a:rPr lang="en-US">
                    <a:noFill/>
                  </a:rPr>
                  <a:t> </a:t>
                </a:r>
              </a:p>
            </p:txBody>
          </p:sp>
        </mc:Fallback>
      </mc:AlternateContent>
    </p:spTree>
    <p:extLst>
      <p:ext uri="{BB962C8B-B14F-4D97-AF65-F5344CB8AC3E}">
        <p14:creationId xmlns:p14="http://schemas.microsoft.com/office/powerpoint/2010/main" val="3424961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45718" y="776177"/>
                <a:ext cx="10267324" cy="5571460"/>
              </a:xfrm>
            </p:spPr>
            <p:txBody>
              <a:bodyPr>
                <a:normAutofit/>
              </a:bodyPr>
              <a:lstStyle/>
              <a:p>
                <a:pPr algn="just"/>
                <a:r>
                  <a:rPr lang="en-US" sz="2600" dirty="0" smtClean="0"/>
                  <a:t>A </a:t>
                </a:r>
                <a:r>
                  <a:rPr lang="en-US" sz="2600" dirty="0"/>
                  <a:t>semantic embedding model </a:t>
                </a:r>
                <a14:m>
                  <m:oMath xmlns:m="http://schemas.openxmlformats.org/officeDocument/2006/math">
                    <m:r>
                      <a:rPr lang="en-US" sz="2600" b="1" i="1" dirty="0" smtClean="0">
                        <a:latin typeface="Cambria Math" panose="02040503050406030204" pitchFamily="18" charset="0"/>
                      </a:rPr>
                      <m:t>𝒇</m:t>
                    </m:r>
                    <m:r>
                      <a:rPr lang="en-US" sz="2600" i="1" dirty="0">
                        <a:latin typeface="Cambria Math" panose="02040503050406030204" pitchFamily="18" charset="0"/>
                      </a:rPr>
                      <m:t> </m:t>
                    </m:r>
                  </m:oMath>
                </a14:m>
                <a:r>
                  <a:rPr lang="en-US" sz="2600" dirty="0"/>
                  <a:t>encodes:</a:t>
                </a:r>
              </a:p>
              <a:p>
                <a:pPr lvl="1" algn="just"/>
                <a:r>
                  <a:rPr lang="en-US" sz="2600" dirty="0"/>
                  <a:t>Query keywords</a:t>
                </a:r>
                <a14:m>
                  <m:oMath xmlns:m="http://schemas.openxmlformats.org/officeDocument/2006/math">
                    <m:r>
                      <a:rPr lang="en-US" sz="2600" i="1" dirty="0" smtClean="0">
                        <a:latin typeface="Cambria Math" panose="02040503050406030204" pitchFamily="18" charset="0"/>
                      </a:rPr>
                      <m:t>: </m:t>
                    </m:r>
                    <m:sSub>
                      <m:sSubPr>
                        <m:ctrlPr>
                          <a:rPr lang="en-US" sz="2600" b="1" i="1" dirty="0" smtClean="0">
                            <a:latin typeface="Cambria Math" panose="02040503050406030204" pitchFamily="18" charset="0"/>
                          </a:rPr>
                        </m:ctrlPr>
                      </m:sSubPr>
                      <m:e>
                        <m:r>
                          <a:rPr lang="en-US" sz="2600" b="1" i="1" dirty="0" err="1">
                            <a:latin typeface="Cambria Math" panose="02040503050406030204" pitchFamily="18" charset="0"/>
                          </a:rPr>
                          <m:t>𝑲</m:t>
                        </m:r>
                      </m:e>
                      <m:sub>
                        <m:r>
                          <a:rPr lang="en-US" sz="2600" b="1" i="1" dirty="0" err="1">
                            <a:latin typeface="Cambria Math" panose="02040503050406030204" pitchFamily="18" charset="0"/>
                          </a:rPr>
                          <m:t>𝒒</m:t>
                        </m:r>
                      </m:sub>
                    </m:sSub>
                    <m:r>
                      <a:rPr lang="en-US" sz="2600" b="1" i="1" dirty="0">
                        <a:latin typeface="Cambria Math" panose="02040503050406030204" pitchFamily="18" charset="0"/>
                      </a:rPr>
                      <m:t>→ </m:t>
                    </m:r>
                    <m:sSub>
                      <m:sSubPr>
                        <m:ctrlPr>
                          <a:rPr lang="en-US" sz="2600" b="1" i="1" dirty="0" smtClean="0">
                            <a:latin typeface="Cambria Math" panose="02040503050406030204" pitchFamily="18" charset="0"/>
                          </a:rPr>
                        </m:ctrlPr>
                      </m:sSubPr>
                      <m:e>
                        <m:r>
                          <a:rPr lang="en-US" sz="2600" b="1" i="1" dirty="0" err="1">
                            <a:latin typeface="Cambria Math" panose="02040503050406030204" pitchFamily="18" charset="0"/>
                          </a:rPr>
                          <m:t>𝑿</m:t>
                        </m:r>
                      </m:e>
                      <m:sub>
                        <m:r>
                          <a:rPr lang="en-US" sz="2600" b="1" i="1" dirty="0" err="1">
                            <a:latin typeface="Cambria Math" panose="02040503050406030204" pitchFamily="18" charset="0"/>
                          </a:rPr>
                          <m:t>𝒒</m:t>
                        </m:r>
                      </m:sub>
                    </m:sSub>
                  </m:oMath>
                </a14:m>
                <a:endParaRPr lang="en-US" sz="2600" dirty="0"/>
              </a:p>
              <a:p>
                <a:pPr lvl="1" algn="just"/>
                <a:r>
                  <a:rPr lang="en-US" sz="2600" dirty="0"/>
                  <a:t>Node identifiers: </a:t>
                </a:r>
                <a14:m>
                  <m:oMath xmlns:m="http://schemas.openxmlformats.org/officeDocument/2006/math">
                    <m:sSub>
                      <m:sSubPr>
                        <m:ctrlPr>
                          <a:rPr lang="en-US" sz="2600" b="1" i="1" dirty="0" smtClean="0">
                            <a:latin typeface="Cambria Math" panose="02040503050406030204" pitchFamily="18" charset="0"/>
                          </a:rPr>
                        </m:ctrlPr>
                      </m:sSubPr>
                      <m:e>
                        <m:r>
                          <a:rPr lang="en-US" sz="2600" b="1" i="1" dirty="0" smtClean="0">
                            <a:latin typeface="Cambria Math" panose="02040503050406030204" pitchFamily="18" charset="0"/>
                          </a:rPr>
                          <m:t>𝑲</m:t>
                        </m:r>
                      </m:e>
                      <m:sub>
                        <m:r>
                          <a:rPr lang="en-US" sz="2600" b="1" i="1" dirty="0" smtClean="0">
                            <a:latin typeface="Cambria Math" panose="02040503050406030204" pitchFamily="18" charset="0"/>
                          </a:rPr>
                          <m:t>𝑽</m:t>
                        </m:r>
                      </m:sub>
                    </m:sSub>
                    <m:r>
                      <a:rPr lang="en-US" sz="2600" b="1" i="1" dirty="0" smtClean="0">
                        <a:latin typeface="Cambria Math" panose="02040503050406030204" pitchFamily="18" charset="0"/>
                      </a:rPr>
                      <m:t> → </m:t>
                    </m:r>
                    <m:sSub>
                      <m:sSubPr>
                        <m:ctrlPr>
                          <a:rPr lang="en-US" sz="2600" b="1" i="1" dirty="0" smtClean="0">
                            <a:latin typeface="Cambria Math" panose="02040503050406030204" pitchFamily="18" charset="0"/>
                          </a:rPr>
                        </m:ctrlPr>
                      </m:sSubPr>
                      <m:e>
                        <m:r>
                          <a:rPr lang="en-US" sz="2600" b="1" i="1" dirty="0" smtClean="0">
                            <a:latin typeface="Cambria Math" panose="02040503050406030204" pitchFamily="18" charset="0"/>
                          </a:rPr>
                          <m:t>𝑿</m:t>
                        </m:r>
                      </m:e>
                      <m:sub>
                        <m:r>
                          <a:rPr lang="en-US" sz="2600" b="1" i="1" dirty="0" smtClean="0">
                            <a:latin typeface="Cambria Math" panose="02040503050406030204" pitchFamily="18" charset="0"/>
                          </a:rPr>
                          <m:t>𝑽</m:t>
                        </m:r>
                      </m:sub>
                    </m:sSub>
                  </m:oMath>
                </a14:m>
                <a:endParaRPr lang="en-US" sz="2600" dirty="0"/>
              </a:p>
              <a:p>
                <a:pPr algn="just"/>
                <a14:m>
                  <m:oMath xmlns:m="http://schemas.openxmlformats.org/officeDocument/2006/math">
                    <m:sSub>
                      <m:sSubPr>
                        <m:ctrlPr>
                          <a:rPr lang="en-US" sz="2600" b="1" i="1" dirty="0" smtClean="0">
                            <a:latin typeface="Cambria Math" panose="02040503050406030204" pitchFamily="18" charset="0"/>
                          </a:rPr>
                        </m:ctrlPr>
                      </m:sSubPr>
                      <m:e>
                        <m:r>
                          <a:rPr lang="en-US" sz="2600" b="1" i="1" dirty="0" smtClean="0">
                            <a:latin typeface="Cambria Math" panose="02040503050406030204" pitchFamily="18" charset="0"/>
                          </a:rPr>
                          <m:t>𝑿</m:t>
                        </m:r>
                      </m:e>
                      <m:sub>
                        <m:r>
                          <a:rPr lang="en-US" sz="2600" b="1" i="1" dirty="0" smtClean="0">
                            <a:latin typeface="Cambria Math" panose="02040503050406030204" pitchFamily="18" charset="0"/>
                          </a:rPr>
                          <m:t>𝑽</m:t>
                        </m:r>
                      </m:sub>
                    </m:sSub>
                    <m:r>
                      <a:rPr lang="en-US" sz="2600" b="1" i="1" dirty="0" smtClean="0">
                        <a:latin typeface="Cambria Math" panose="02040503050406030204" pitchFamily="18" charset="0"/>
                      </a:rPr>
                      <m:t>= {</m:t>
                    </m:r>
                    <m:sSub>
                      <m:sSubPr>
                        <m:ctrlPr>
                          <a:rPr lang="en-US" sz="2600" b="1" i="1" dirty="0" smtClean="0">
                            <a:latin typeface="Cambria Math" panose="02040503050406030204" pitchFamily="18" charset="0"/>
                          </a:rPr>
                        </m:ctrlPr>
                      </m:sSubPr>
                      <m:e>
                        <m:r>
                          <a:rPr lang="en-US" sz="2600" b="1" i="1" dirty="0" smtClean="0">
                            <a:latin typeface="Cambria Math" panose="02040503050406030204" pitchFamily="18" charset="0"/>
                          </a:rPr>
                          <m:t>𝒙</m:t>
                        </m:r>
                      </m:e>
                      <m:sub>
                        <m:r>
                          <a:rPr lang="en-US" sz="2600" b="1" i="1" dirty="0" smtClean="0">
                            <a:latin typeface="Cambria Math" panose="02040503050406030204" pitchFamily="18" charset="0"/>
                          </a:rPr>
                          <m:t>𝒗</m:t>
                        </m:r>
                      </m:sub>
                    </m:sSub>
                    <m:r>
                      <a:rPr lang="en-US" sz="2600" b="1" i="1" dirty="0" smtClean="0">
                        <a:latin typeface="Cambria Math" panose="02040503050406030204" pitchFamily="18" charset="0"/>
                      </a:rPr>
                      <m:t> | </m:t>
                    </m:r>
                    <m:r>
                      <a:rPr lang="en-US" sz="2600" b="1" i="1" dirty="0" smtClean="0">
                        <a:latin typeface="Cambria Math" panose="02040503050406030204" pitchFamily="18" charset="0"/>
                      </a:rPr>
                      <m:t>𝒗</m:t>
                    </m:r>
                    <m:r>
                      <a:rPr lang="en-US" sz="2600" b="1" i="1" dirty="0" smtClean="0">
                        <a:latin typeface="Cambria Math" panose="02040503050406030204" pitchFamily="18" charset="0"/>
                      </a:rPr>
                      <m:t> ∈ </m:t>
                    </m:r>
                    <m:r>
                      <a:rPr lang="en-US" sz="2600" b="1" i="1" dirty="0" smtClean="0">
                        <a:latin typeface="Cambria Math" panose="02040503050406030204" pitchFamily="18" charset="0"/>
                      </a:rPr>
                      <m:t>𝑽</m:t>
                    </m:r>
                    <m:r>
                      <a:rPr lang="en-US" sz="2600" b="1" i="1" dirty="0" smtClean="0">
                        <a:latin typeface="Cambria Math" panose="02040503050406030204" pitchFamily="18" charset="0"/>
                      </a:rPr>
                      <m:t>}</m:t>
                    </m:r>
                  </m:oMath>
                </a14:m>
                <a:r>
                  <a:rPr lang="en-US" sz="2600" dirty="0"/>
                  <a:t>:</a:t>
                </a:r>
                <a:r>
                  <a:rPr lang="en-US" sz="2600" dirty="0" smtClean="0"/>
                  <a:t>= </a:t>
                </a:r>
                <a:r>
                  <a:rPr lang="en-US" sz="2600" dirty="0"/>
                  <a:t> </a:t>
                </a:r>
                <a:r>
                  <a:rPr lang="en-US" sz="2600" dirty="0" err="1"/>
                  <a:t>embeddings</a:t>
                </a:r>
                <a:r>
                  <a:rPr lang="en-US" sz="2600" dirty="0"/>
                  <a:t> of node identifiers</a:t>
                </a:r>
              </a:p>
              <a:p>
                <a:pPr algn="just"/>
                <a14:m>
                  <m:oMath xmlns:m="http://schemas.openxmlformats.org/officeDocument/2006/math">
                    <m:sSub>
                      <m:sSubPr>
                        <m:ctrlPr>
                          <a:rPr lang="en-US" sz="2600" b="1" i="1" dirty="0" smtClean="0">
                            <a:latin typeface="Cambria Math" panose="02040503050406030204" pitchFamily="18" charset="0"/>
                          </a:rPr>
                        </m:ctrlPr>
                      </m:sSubPr>
                      <m:e>
                        <m:r>
                          <a:rPr lang="en-US" sz="2600" b="1" i="1" dirty="0" smtClean="0">
                            <a:latin typeface="Cambria Math" panose="02040503050406030204" pitchFamily="18" charset="0"/>
                          </a:rPr>
                          <m:t>𝑿</m:t>
                        </m:r>
                      </m:e>
                      <m:sub>
                        <m:r>
                          <a:rPr lang="en-US" sz="2600" b="1" i="1" dirty="0" smtClean="0">
                            <a:latin typeface="Cambria Math" panose="02040503050406030204" pitchFamily="18" charset="0"/>
                          </a:rPr>
                          <m:t>𝒒</m:t>
                        </m:r>
                      </m:sub>
                    </m:sSub>
                    <m:r>
                      <a:rPr lang="en-US" sz="2600" b="1" i="1" dirty="0">
                        <a:latin typeface="Cambria Math" panose="02040503050406030204" pitchFamily="18" charset="0"/>
                      </a:rPr>
                      <m:t>= </m:t>
                    </m:r>
                    <m:d>
                      <m:dPr>
                        <m:begChr m:val="{"/>
                        <m:endChr m:val="}"/>
                        <m:ctrlPr>
                          <a:rPr lang="en-US" sz="2600" b="1" i="1" dirty="0" smtClean="0">
                            <a:latin typeface="Cambria Math" panose="02040503050406030204" pitchFamily="18" charset="0"/>
                          </a:rPr>
                        </m:ctrlPr>
                      </m:dPr>
                      <m:e>
                        <m:sSub>
                          <m:sSubPr>
                            <m:ctrlPr>
                              <a:rPr lang="en-US" sz="2600" b="1" i="1" dirty="0" smtClean="0">
                                <a:latin typeface="Cambria Math" panose="02040503050406030204" pitchFamily="18" charset="0"/>
                              </a:rPr>
                            </m:ctrlPr>
                          </m:sSubPr>
                          <m:e>
                            <m:r>
                              <a:rPr lang="en-US" sz="2600" b="1" i="1" dirty="0" err="1">
                                <a:latin typeface="Cambria Math" panose="02040503050406030204" pitchFamily="18" charset="0"/>
                              </a:rPr>
                              <m:t>𝒙</m:t>
                            </m:r>
                          </m:e>
                          <m:sub>
                            <m:r>
                              <a:rPr lang="en-US" sz="2600" b="1" i="1" dirty="0" err="1">
                                <a:latin typeface="Cambria Math" panose="02040503050406030204" pitchFamily="18" charset="0"/>
                              </a:rPr>
                              <m:t>𝒒</m:t>
                            </m:r>
                            <m:r>
                              <a:rPr lang="en-US" sz="2600" b="1" i="1" dirty="0" err="1">
                                <a:latin typeface="Cambria Math" panose="02040503050406030204" pitchFamily="18" charset="0"/>
                              </a:rPr>
                              <m:t>,</m:t>
                            </m:r>
                            <m:r>
                              <a:rPr lang="en-US" sz="2600" b="1" i="1" dirty="0" err="1">
                                <a:latin typeface="Cambria Math" panose="02040503050406030204" pitchFamily="18" charset="0"/>
                              </a:rPr>
                              <m:t>𝒊</m:t>
                            </m:r>
                          </m:sub>
                        </m:sSub>
                      </m:e>
                    </m:d>
                    <m:r>
                      <a:rPr lang="en-US" sz="2600" b="1" i="1" dirty="0" smtClean="0">
                        <a:latin typeface="Cambria Math" panose="02040503050406030204" pitchFamily="18" charset="0"/>
                      </a:rPr>
                      <m:t>, </m:t>
                    </m:r>
                    <m:r>
                      <a:rPr lang="en-US" sz="2600" b="1" i="1" dirty="0" smtClean="0">
                        <a:latin typeface="Cambria Math" panose="02040503050406030204" pitchFamily="18" charset="0"/>
                      </a:rPr>
                      <m:t>𝒊</m:t>
                    </m:r>
                    <m:r>
                      <a:rPr lang="en-US" sz="2600" b="1" i="1" dirty="0" smtClean="0">
                        <a:latin typeface="Cambria Math" panose="02040503050406030204" pitchFamily="18" charset="0"/>
                      </a:rPr>
                      <m:t>=</m:t>
                    </m:r>
                    <m:r>
                      <a:rPr lang="en-US" sz="2600" b="1" i="1" dirty="0" smtClean="0">
                        <a:latin typeface="Cambria Math" panose="02040503050406030204" pitchFamily="18" charset="0"/>
                      </a:rPr>
                      <m:t>𝟏</m:t>
                    </m:r>
                    <m:r>
                      <a:rPr lang="en-US" sz="2600" b="1" i="1" dirty="0" smtClean="0">
                        <a:latin typeface="Cambria Math" panose="02040503050406030204" pitchFamily="18" charset="0"/>
                      </a:rPr>
                      <m:t> …|</m:t>
                    </m:r>
                    <m:sSub>
                      <m:sSubPr>
                        <m:ctrlPr>
                          <a:rPr lang="en-US" sz="2600" b="1" i="1" dirty="0">
                            <a:latin typeface="Cambria Math" panose="02040503050406030204" pitchFamily="18" charset="0"/>
                          </a:rPr>
                        </m:ctrlPr>
                      </m:sSubPr>
                      <m:e>
                        <m:r>
                          <a:rPr lang="en-US" sz="2600" b="1" i="1" dirty="0">
                            <a:latin typeface="Cambria Math" panose="02040503050406030204" pitchFamily="18" charset="0"/>
                          </a:rPr>
                          <m:t>𝑿</m:t>
                        </m:r>
                      </m:e>
                      <m:sub>
                        <m:r>
                          <a:rPr lang="en-US" sz="2600" b="1" i="1" dirty="0">
                            <a:latin typeface="Cambria Math" panose="02040503050406030204" pitchFamily="18" charset="0"/>
                          </a:rPr>
                          <m:t>𝒒</m:t>
                        </m:r>
                      </m:sub>
                    </m:sSub>
                  </m:oMath>
                </a14:m>
                <a:r>
                  <a:rPr lang="en-US" sz="2600" dirty="0" smtClean="0"/>
                  <a:t>|: </a:t>
                </a:r>
                <a:r>
                  <a:rPr lang="en-US" sz="2600" dirty="0" err="1"/>
                  <a:t>embeddings</a:t>
                </a:r>
                <a:r>
                  <a:rPr lang="en-US" sz="2600" dirty="0"/>
                  <a:t> of extracted </a:t>
                </a:r>
                <a:r>
                  <a:rPr lang="en-US" sz="2600" dirty="0" smtClean="0"/>
                  <a:t>keywords</a:t>
                </a:r>
              </a:p>
              <a:p>
                <a:pPr algn="just"/>
                <a:r>
                  <a:rPr lang="en-US" sz="2600" dirty="0" smtClean="0"/>
                  <a:t>For </a:t>
                </a:r>
                <a:r>
                  <a:rPr lang="en-US" sz="2600" dirty="0"/>
                  <a:t>each keyword embedding in </a:t>
                </a:r>
                <a14:m>
                  <m:oMath xmlns:m="http://schemas.openxmlformats.org/officeDocument/2006/math">
                    <m:sSub>
                      <m:sSubPr>
                        <m:ctrlPr>
                          <a:rPr lang="en-US" sz="2600" b="1" i="1" dirty="0" smtClean="0">
                            <a:latin typeface="Cambria Math" panose="02040503050406030204" pitchFamily="18" charset="0"/>
                          </a:rPr>
                        </m:ctrlPr>
                      </m:sSubPr>
                      <m:e>
                        <m:r>
                          <a:rPr lang="en-US" sz="2600" b="1" i="1" dirty="0" smtClean="0">
                            <a:latin typeface="Cambria Math" panose="02040503050406030204" pitchFamily="18" charset="0"/>
                          </a:rPr>
                          <m:t>𝑿</m:t>
                        </m:r>
                      </m:e>
                      <m:sub>
                        <m:r>
                          <a:rPr lang="en-US" sz="2600" b="1" i="1" dirty="0" smtClean="0">
                            <a:latin typeface="Cambria Math" panose="02040503050406030204" pitchFamily="18" charset="0"/>
                          </a:rPr>
                          <m:t>𝒒</m:t>
                        </m:r>
                      </m:sub>
                    </m:sSub>
                  </m:oMath>
                </a14:m>
                <a:r>
                  <a:rPr lang="en-US" sz="2600" dirty="0"/>
                  <a:t>, the most relevant nodes are retrieved from </a:t>
                </a:r>
                <a14:m>
                  <m:oMath xmlns:m="http://schemas.openxmlformats.org/officeDocument/2006/math">
                    <m:sSub>
                      <m:sSubPr>
                        <m:ctrlPr>
                          <a:rPr lang="en-US" sz="2600" b="1" i="1" dirty="0" smtClean="0">
                            <a:latin typeface="Cambria Math" panose="02040503050406030204" pitchFamily="18" charset="0"/>
                          </a:rPr>
                        </m:ctrlPr>
                      </m:sSubPr>
                      <m:e>
                        <m:r>
                          <a:rPr lang="en-US" sz="2600" b="1" i="1" dirty="0" smtClean="0">
                            <a:latin typeface="Cambria Math" panose="02040503050406030204" pitchFamily="18" charset="0"/>
                          </a:rPr>
                          <m:t>𝑿</m:t>
                        </m:r>
                      </m:e>
                      <m:sub>
                        <m:r>
                          <a:rPr lang="en-US" sz="2600" b="1" i="1" dirty="0" smtClean="0">
                            <a:latin typeface="Cambria Math" panose="02040503050406030204" pitchFamily="18" charset="0"/>
                          </a:rPr>
                          <m:t>𝒗</m:t>
                        </m:r>
                      </m:sub>
                    </m:sSub>
                  </m:oMath>
                </a14:m>
                <a:r>
                  <a:rPr lang="en-US" sz="2600" dirty="0" smtClean="0"/>
                  <a:t>.</a:t>
                </a:r>
                <a:endParaRPr lang="en-US" sz="2600" dirty="0"/>
              </a:p>
              <a:p>
                <a:pPr algn="just"/>
                <a:r>
                  <a:rPr lang="en-US" sz="2600" dirty="0"/>
                  <a:t>Retrieval continues until a predefined number </a:t>
                </a:r>
                <a:r>
                  <a:rPr lang="en-US" sz="2600" b="1" dirty="0"/>
                  <a:t>N</a:t>
                </a:r>
                <a:r>
                  <a:rPr lang="en-US" sz="2600" dirty="0"/>
                  <a:t> of nodes is reached.</a:t>
                </a:r>
              </a:p>
              <a:p>
                <a:pPr algn="just"/>
                <a:r>
                  <a:rPr lang="en-US" sz="2600" dirty="0"/>
                  <a:t>The final retrieved node set is denoted as </a:t>
                </a:r>
                <a14:m>
                  <m:oMath xmlns:m="http://schemas.openxmlformats.org/officeDocument/2006/math">
                    <m:sSub>
                      <m:sSubPr>
                        <m:ctrlPr>
                          <a:rPr lang="en-US" sz="2600" b="1" i="1" dirty="0" smtClean="0">
                            <a:latin typeface="Cambria Math" panose="02040503050406030204" pitchFamily="18" charset="0"/>
                          </a:rPr>
                        </m:ctrlPr>
                      </m:sSubPr>
                      <m:e>
                        <m:r>
                          <a:rPr lang="en-US" sz="2600" b="1" i="1" dirty="0" smtClean="0">
                            <a:latin typeface="Cambria Math" panose="02040503050406030204" pitchFamily="18" charset="0"/>
                          </a:rPr>
                          <m:t>𝑽</m:t>
                        </m:r>
                      </m:e>
                      <m:sub>
                        <m:r>
                          <a:rPr lang="en-US" sz="2600" b="1" i="1" dirty="0" smtClean="0">
                            <a:latin typeface="Cambria Math" panose="02040503050406030204" pitchFamily="18" charset="0"/>
                          </a:rPr>
                          <m:t>𝒒</m:t>
                        </m:r>
                      </m:sub>
                    </m:sSub>
                    <m:r>
                      <a:rPr lang="en-US" sz="2600" b="1" i="1" dirty="0">
                        <a:latin typeface="Cambria Math" panose="02040503050406030204" pitchFamily="18" charset="0"/>
                      </a:rPr>
                      <m:t>⊆ </m:t>
                    </m:r>
                    <m:r>
                      <a:rPr lang="en-US" sz="2600" b="1" i="1" dirty="0">
                        <a:latin typeface="Cambria Math" panose="02040503050406030204" pitchFamily="18" charset="0"/>
                      </a:rPr>
                      <m:t>𝑽</m:t>
                    </m:r>
                    <m:r>
                      <a:rPr lang="en-US" sz="2600" i="1" dirty="0">
                        <a:latin typeface="Cambria Math" panose="02040503050406030204" pitchFamily="18" charset="0"/>
                      </a:rPr>
                      <m:t>.</m:t>
                    </m:r>
                  </m:oMath>
                </a14:m>
                <a:endParaRPr lang="en-US" sz="2600" dirty="0"/>
              </a:p>
              <a:p>
                <a:pPr algn="just"/>
                <a:endParaRPr lang="en-US"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45718" y="776177"/>
                <a:ext cx="10267324" cy="5571460"/>
              </a:xfrm>
              <a:blipFill>
                <a:blip r:embed="rId2"/>
                <a:stretch>
                  <a:fillRect l="-1425" t="-1641" r="-1069"/>
                </a:stretch>
              </a:blipFill>
            </p:spPr>
            <p:txBody>
              <a:bodyPr/>
              <a:lstStyle/>
              <a:p>
                <a:r>
                  <a:rPr lang="en-US">
                    <a:noFill/>
                  </a:rPr>
                  <a:t> </a:t>
                </a:r>
              </a:p>
            </p:txBody>
          </p:sp>
        </mc:Fallback>
      </mc:AlternateContent>
    </p:spTree>
    <p:extLst>
      <p:ext uri="{BB962C8B-B14F-4D97-AF65-F5344CB8AC3E}">
        <p14:creationId xmlns:p14="http://schemas.microsoft.com/office/powerpoint/2010/main" val="13640973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1" y="0"/>
            <a:ext cx="9905998" cy="1478570"/>
          </a:xfrm>
        </p:spPr>
        <p:txBody>
          <a:bodyPr/>
          <a:lstStyle/>
          <a:p>
            <a:r>
              <a:rPr lang="en-US" cap="none" dirty="0">
                <a:solidFill>
                  <a:srgbClr val="FF3399"/>
                </a:solidFill>
              </a:rPr>
              <a:t>Node Retrieval</a:t>
            </a:r>
            <a:endParaRPr lang="en-US" dirty="0"/>
          </a:p>
        </p:txBody>
      </p:sp>
      <p:sp>
        <p:nvSpPr>
          <p:cNvPr id="3" name="Content Placeholder 2"/>
          <p:cNvSpPr>
            <a:spLocks noGrp="1"/>
          </p:cNvSpPr>
          <p:nvPr>
            <p:ph idx="1"/>
          </p:nvPr>
        </p:nvSpPr>
        <p:spPr>
          <a:xfrm>
            <a:off x="1141411" y="1515841"/>
            <a:ext cx="9905999" cy="3541714"/>
          </a:xfrm>
        </p:spPr>
        <p:txBody>
          <a:bodyPr>
            <a:normAutofit/>
          </a:bodyPr>
          <a:lstStyle/>
          <a:p>
            <a:r>
              <a:rPr lang="en-US" sz="2600" dirty="0"/>
              <a:t>Multiple paths may exist between retrieved nodes</a:t>
            </a:r>
            <a:r>
              <a:rPr lang="en-US" sz="2600" dirty="0" smtClean="0"/>
              <a:t>.</a:t>
            </a:r>
          </a:p>
          <a:p>
            <a:r>
              <a:rPr lang="en-US" sz="2600" dirty="0"/>
              <a:t>Not all paths are useful for answering the query</a:t>
            </a:r>
            <a:r>
              <a:rPr lang="en-US" sz="2600" dirty="0" smtClean="0"/>
              <a:t>.</a:t>
            </a:r>
          </a:p>
          <a:p>
            <a:r>
              <a:rPr lang="en-US" sz="2600" dirty="0"/>
              <a:t>A </a:t>
            </a:r>
            <a:r>
              <a:rPr lang="en-US" sz="2600" b="1" dirty="0"/>
              <a:t>flow-based pruning algorithm</a:t>
            </a:r>
            <a:r>
              <a:rPr lang="en-US" sz="2600" dirty="0"/>
              <a:t> is used to extract </a:t>
            </a:r>
            <a:r>
              <a:rPr lang="en-US" sz="2600" b="1" dirty="0"/>
              <a:t>key paths</a:t>
            </a:r>
            <a:r>
              <a:rPr lang="en-US" sz="2600" dirty="0"/>
              <a:t> efficiently</a:t>
            </a:r>
            <a:r>
              <a:rPr lang="en-US" sz="2600" dirty="0" smtClean="0"/>
              <a:t>.</a:t>
            </a:r>
          </a:p>
          <a:p>
            <a:r>
              <a:rPr lang="en-US" sz="2600" dirty="0"/>
              <a:t>The method incorporates </a:t>
            </a:r>
            <a:r>
              <a:rPr lang="en-US" sz="2600" b="1" dirty="0"/>
              <a:t>distance awareness</a:t>
            </a:r>
            <a:r>
              <a:rPr lang="en-US" sz="2600" dirty="0"/>
              <a:t> to favor closer and stronger connections</a:t>
            </a:r>
            <a:r>
              <a:rPr lang="en-US" sz="2600" dirty="0" smtClean="0"/>
              <a:t>.</a:t>
            </a:r>
          </a:p>
          <a:p>
            <a:endParaRPr lang="en-US" sz="2600" dirty="0"/>
          </a:p>
        </p:txBody>
      </p:sp>
    </p:spTree>
    <p:extLst>
      <p:ext uri="{BB962C8B-B14F-4D97-AF65-F5344CB8AC3E}">
        <p14:creationId xmlns:p14="http://schemas.microsoft.com/office/powerpoint/2010/main" val="3929831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1478570"/>
          </a:xfrm>
        </p:spPr>
        <p:txBody>
          <a:bodyPr/>
          <a:lstStyle/>
          <a:p>
            <a:r>
              <a:rPr lang="en-US" cap="none" dirty="0">
                <a:solidFill>
                  <a:srgbClr val="9900CC"/>
                </a:solidFill>
              </a:rPr>
              <a:t>D</a:t>
            </a:r>
            <a:r>
              <a:rPr lang="en-US" cap="none" dirty="0" smtClean="0">
                <a:solidFill>
                  <a:srgbClr val="9900CC"/>
                </a:solidFill>
              </a:rPr>
              <a:t>efinitions</a:t>
            </a:r>
            <a:endParaRPr lang="en-US" cap="none" dirty="0">
              <a:solidFill>
                <a:srgbClr val="9900CC"/>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1" y="1303189"/>
                <a:ext cx="9905999" cy="4576616"/>
              </a:xfrm>
            </p:spPr>
            <p:txBody>
              <a:bodyPr>
                <a:normAutofit/>
              </a:bodyPr>
              <a:lstStyle/>
              <a:p>
                <a:r>
                  <a:rPr lang="en-US" sz="2800" dirty="0" smtClean="0"/>
                  <a:t>For a node </a:t>
                </a:r>
                <a14:m>
                  <m:oMath xmlns:m="http://schemas.openxmlformats.org/officeDocument/2006/math">
                    <m:sSub>
                      <m:sSubPr>
                        <m:ctrlPr>
                          <a:rPr lang="en-US" sz="2800" b="1" i="1" dirty="0">
                            <a:latin typeface="Cambria Math" panose="02040503050406030204" pitchFamily="18" charset="0"/>
                          </a:rPr>
                        </m:ctrlPr>
                      </m:sSubPr>
                      <m:e>
                        <m:r>
                          <a:rPr lang="en-US" sz="2800" b="1" i="1" dirty="0">
                            <a:latin typeface="Cambria Math" panose="02040503050406030204" pitchFamily="18" charset="0"/>
                          </a:rPr>
                          <m:t>𝒗</m:t>
                        </m:r>
                      </m:e>
                      <m:sub>
                        <m:r>
                          <a:rPr lang="en-US" sz="2800" b="1" i="1" dirty="0">
                            <a:latin typeface="Cambria Math" panose="02040503050406030204" pitchFamily="18" charset="0"/>
                          </a:rPr>
                          <m:t>𝒊</m:t>
                        </m:r>
                      </m:sub>
                    </m:sSub>
                  </m:oMath>
                </a14:m>
                <a:r>
                  <a:rPr lang="en-US" sz="2800" dirty="0"/>
                  <a:t>:</a:t>
                </a:r>
              </a:p>
              <a:p>
                <a:pPr lvl="1"/>
                <a14:m>
                  <m:oMath xmlns:m="http://schemas.openxmlformats.org/officeDocument/2006/math">
                    <m:r>
                      <a:rPr lang="en-US" sz="2400" b="1" i="1" dirty="0" smtClean="0">
                        <a:latin typeface="Cambria Math" panose="02040503050406030204" pitchFamily="18" charset="0"/>
                      </a:rPr>
                      <m:t>𝑵</m:t>
                    </m:r>
                    <m:r>
                      <a:rPr lang="en-US" sz="2400" b="1" i="1" dirty="0" smtClean="0">
                        <a:latin typeface="Cambria Math" panose="02040503050406030204" pitchFamily="18" charset="0"/>
                      </a:rPr>
                      <m:t>(</m:t>
                    </m:r>
                    <m:sSub>
                      <m:sSubPr>
                        <m:ctrlPr>
                          <a:rPr lang="en-US" sz="2400" b="1" i="1" dirty="0">
                            <a:latin typeface="Cambria Math" panose="02040503050406030204" pitchFamily="18" charset="0"/>
                          </a:rPr>
                        </m:ctrlPr>
                      </m:sSubPr>
                      <m:e>
                        <m:r>
                          <a:rPr lang="en-US" sz="2400" b="1" i="1" dirty="0">
                            <a:latin typeface="Cambria Math" panose="02040503050406030204" pitchFamily="18" charset="0"/>
                          </a:rPr>
                          <m:t>𝒗</m:t>
                        </m:r>
                      </m:e>
                      <m:sub>
                        <m:r>
                          <a:rPr lang="en-US" sz="2400" b="1" i="1" dirty="0">
                            <a:latin typeface="Cambria Math" panose="02040503050406030204" pitchFamily="18" charset="0"/>
                          </a:rPr>
                          <m:t>𝒊</m:t>
                        </m:r>
                      </m:sub>
                    </m:sSub>
                    <m:r>
                      <a:rPr lang="en-US" sz="2400" b="1" i="1" dirty="0" smtClean="0">
                        <a:latin typeface="Cambria Math" panose="02040503050406030204" pitchFamily="18" charset="0"/>
                      </a:rPr>
                      <m:t>, ·)</m:t>
                    </m:r>
                    <m:r>
                      <a:rPr lang="en-US" sz="2400" i="1" dirty="0" smtClean="0">
                        <a:latin typeface="Cambria Math" panose="02040503050406030204" pitchFamily="18" charset="0"/>
                      </a:rPr>
                      <m:t>:= </m:t>
                    </m:r>
                  </m:oMath>
                </a14:m>
                <a:r>
                  <a:rPr lang="en-US" sz="2400" dirty="0" smtClean="0"/>
                  <a:t> </a:t>
                </a:r>
                <a:r>
                  <a:rPr lang="en-US" sz="2400" dirty="0"/>
                  <a:t>nodes that </a:t>
                </a:r>
                <a14:m>
                  <m:oMath xmlns:m="http://schemas.openxmlformats.org/officeDocument/2006/math">
                    <m:sSub>
                      <m:sSubPr>
                        <m:ctrlPr>
                          <a:rPr lang="en-US" sz="2400" b="1" i="1" dirty="0" smtClean="0">
                            <a:latin typeface="Cambria Math" panose="02040503050406030204" pitchFamily="18" charset="0"/>
                          </a:rPr>
                        </m:ctrlPr>
                      </m:sSubPr>
                      <m:e>
                        <m:r>
                          <a:rPr lang="en-US" sz="2400" b="1" i="1" dirty="0" smtClean="0">
                            <a:latin typeface="Cambria Math" panose="02040503050406030204" pitchFamily="18" charset="0"/>
                          </a:rPr>
                          <m:t>𝒗</m:t>
                        </m:r>
                      </m:e>
                      <m:sub>
                        <m:r>
                          <a:rPr lang="en-US" sz="2400" b="1" i="1" dirty="0" smtClean="0">
                            <a:latin typeface="Cambria Math" panose="02040503050406030204" pitchFamily="18" charset="0"/>
                          </a:rPr>
                          <m:t>𝒊</m:t>
                        </m:r>
                      </m:sub>
                    </m:sSub>
                  </m:oMath>
                </a14:m>
                <a:r>
                  <a:rPr lang="en-US" sz="2400" b="1" dirty="0"/>
                  <a:t> points to</a:t>
                </a:r>
                <a:endParaRPr lang="en-US" sz="2400" dirty="0"/>
              </a:p>
              <a:p>
                <a:pPr lvl="1"/>
                <a14:m>
                  <m:oMath xmlns:m="http://schemas.openxmlformats.org/officeDocument/2006/math">
                    <m:r>
                      <a:rPr lang="en-US" sz="2400" b="1" i="1" dirty="0" smtClean="0">
                        <a:latin typeface="Cambria Math" panose="02040503050406030204" pitchFamily="18" charset="0"/>
                      </a:rPr>
                      <m:t>𝑵</m:t>
                    </m:r>
                    <m:r>
                      <a:rPr lang="en-US" sz="2400" b="1" i="1" dirty="0" smtClean="0">
                        <a:latin typeface="Cambria Math" panose="02040503050406030204" pitchFamily="18" charset="0"/>
                      </a:rPr>
                      <m:t>(·,</m:t>
                    </m:r>
                    <m:sSub>
                      <m:sSubPr>
                        <m:ctrlPr>
                          <a:rPr lang="en-US" sz="2400" b="1" i="1" dirty="0">
                            <a:latin typeface="Cambria Math" panose="02040503050406030204" pitchFamily="18" charset="0"/>
                          </a:rPr>
                        </m:ctrlPr>
                      </m:sSubPr>
                      <m:e>
                        <m:r>
                          <a:rPr lang="en-US" sz="2400" b="1" i="1" dirty="0">
                            <a:latin typeface="Cambria Math" panose="02040503050406030204" pitchFamily="18" charset="0"/>
                          </a:rPr>
                          <m:t>𝒗</m:t>
                        </m:r>
                      </m:e>
                      <m:sub>
                        <m:r>
                          <a:rPr lang="en-US" sz="2400" b="1" i="1" dirty="0">
                            <a:latin typeface="Cambria Math" panose="02040503050406030204" pitchFamily="18" charset="0"/>
                          </a:rPr>
                          <m:t>𝒊</m:t>
                        </m:r>
                      </m:sub>
                    </m:sSub>
                    <m:r>
                      <a:rPr lang="en-US" sz="2400" b="1" i="1" dirty="0" smtClean="0">
                        <a:latin typeface="Cambria Math" panose="02040503050406030204" pitchFamily="18" charset="0"/>
                      </a:rPr>
                      <m:t>)</m:t>
                    </m:r>
                    <m:r>
                      <a:rPr lang="en-US" sz="2400" i="1" dirty="0" smtClean="0">
                        <a:latin typeface="Cambria Math" panose="02040503050406030204" pitchFamily="18" charset="0"/>
                      </a:rPr>
                      <m:t>:=</m:t>
                    </m:r>
                  </m:oMath>
                </a14:m>
                <a:r>
                  <a:rPr lang="en-US" sz="2400" dirty="0" smtClean="0"/>
                  <a:t>  </a:t>
                </a:r>
                <a:r>
                  <a:rPr lang="en-US" sz="2400" dirty="0"/>
                  <a:t>nodes that </a:t>
                </a:r>
                <a:r>
                  <a:rPr lang="en-US" sz="2400" b="1" dirty="0"/>
                  <a:t>point to </a:t>
                </a:r>
                <a14:m>
                  <m:oMath xmlns:m="http://schemas.openxmlformats.org/officeDocument/2006/math">
                    <m:sSub>
                      <m:sSubPr>
                        <m:ctrlPr>
                          <a:rPr lang="en-US" sz="2400" b="1" i="1" dirty="0" smtClean="0">
                            <a:latin typeface="Cambria Math" panose="02040503050406030204" pitchFamily="18" charset="0"/>
                          </a:rPr>
                        </m:ctrlPr>
                      </m:sSubPr>
                      <m:e>
                        <m:r>
                          <a:rPr lang="en-US" sz="2400" b="1" i="1" dirty="0" smtClean="0">
                            <a:latin typeface="Cambria Math" panose="02040503050406030204" pitchFamily="18" charset="0"/>
                          </a:rPr>
                          <m:t>𝒗</m:t>
                        </m:r>
                      </m:e>
                      <m:sub>
                        <m:r>
                          <a:rPr lang="en-US" sz="2400" b="1" i="1" dirty="0" smtClean="0">
                            <a:latin typeface="Cambria Math" panose="02040503050406030204" pitchFamily="18" charset="0"/>
                          </a:rPr>
                          <m:t>𝒊</m:t>
                        </m:r>
                      </m:sub>
                    </m:sSub>
                  </m:oMath>
                </a14:m>
                <a:endParaRPr lang="en-US" sz="2400" b="1" dirty="0" smtClean="0"/>
              </a:p>
              <a:p>
                <a:r>
                  <a:rPr lang="en-US" sz="2800" dirty="0"/>
                  <a:t>Each node is assigned a </a:t>
                </a:r>
                <a:r>
                  <a:rPr lang="en-US" sz="2800" b="1" dirty="0"/>
                  <a:t>resource score</a:t>
                </a:r>
                <a:r>
                  <a:rPr lang="en-US" sz="2800" dirty="0"/>
                  <a:t> </a:t>
                </a:r>
                <a14:m>
                  <m:oMath xmlns:m="http://schemas.openxmlformats.org/officeDocument/2006/math">
                    <m:r>
                      <a:rPr lang="en-US" sz="2800" b="1" i="1" dirty="0" smtClean="0">
                        <a:latin typeface="Cambria Math" panose="02040503050406030204" pitchFamily="18" charset="0"/>
                      </a:rPr>
                      <m:t>𝑺</m:t>
                    </m:r>
                    <m:r>
                      <a:rPr lang="en-US" sz="2800" b="1" i="1" dirty="0" smtClean="0">
                        <a:latin typeface="Cambria Math" panose="02040503050406030204" pitchFamily="18" charset="0"/>
                      </a:rPr>
                      <m:t>(</m:t>
                    </m:r>
                    <m:sSub>
                      <m:sSubPr>
                        <m:ctrlPr>
                          <a:rPr lang="en-US" sz="2800" b="1" i="1" dirty="0" smtClean="0">
                            <a:latin typeface="Cambria Math" panose="02040503050406030204" pitchFamily="18" charset="0"/>
                          </a:rPr>
                        </m:ctrlPr>
                      </m:sSubPr>
                      <m:e>
                        <m:r>
                          <a:rPr lang="en-US" sz="2800" b="1" i="1" dirty="0" smtClean="0">
                            <a:latin typeface="Cambria Math" panose="02040503050406030204" pitchFamily="18" charset="0"/>
                          </a:rPr>
                          <m:t>𝒗</m:t>
                        </m:r>
                      </m:e>
                      <m:sub>
                        <m:r>
                          <a:rPr lang="en-US" sz="2800" b="1" i="1" dirty="0" smtClean="0">
                            <a:latin typeface="Cambria Math" panose="02040503050406030204" pitchFamily="18" charset="0"/>
                          </a:rPr>
                          <m:t>𝒊</m:t>
                        </m:r>
                      </m:sub>
                    </m:sSub>
                    <m:r>
                      <a:rPr lang="en-US" sz="2800" b="1" i="1" dirty="0" smtClean="0">
                        <a:latin typeface="Cambria Math" panose="02040503050406030204" pitchFamily="18" charset="0"/>
                      </a:rPr>
                      <m:t>)</m:t>
                    </m:r>
                  </m:oMath>
                </a14:m>
                <a:r>
                  <a:rPr lang="en-US" sz="2800" dirty="0" smtClean="0"/>
                  <a:t>.</a:t>
                </a:r>
              </a:p>
              <a:p>
                <a:r>
                  <a:rPr lang="en-US" sz="2800" dirty="0"/>
                  <a:t>Initialization:</a:t>
                </a:r>
              </a:p>
              <a:p>
                <a:pPr lvl="1"/>
                <a14:m>
                  <m:oMath xmlns:m="http://schemas.openxmlformats.org/officeDocument/2006/math">
                    <m:r>
                      <a:rPr lang="en-US" sz="2400" b="1" i="1" dirty="0" smtClean="0">
                        <a:latin typeface="Cambria Math" panose="02040503050406030204" pitchFamily="18" charset="0"/>
                      </a:rPr>
                      <m:t>𝑺</m:t>
                    </m:r>
                    <m:r>
                      <a:rPr lang="en-US" sz="2400" b="1" i="1" dirty="0" smtClean="0">
                        <a:latin typeface="Cambria Math" panose="02040503050406030204" pitchFamily="18" charset="0"/>
                      </a:rPr>
                      <m:t>(</m:t>
                    </m:r>
                    <m:sSub>
                      <m:sSubPr>
                        <m:ctrlPr>
                          <a:rPr lang="en-US" sz="2400" b="1" i="1" dirty="0" smtClean="0">
                            <a:latin typeface="Cambria Math" panose="02040503050406030204" pitchFamily="18" charset="0"/>
                          </a:rPr>
                        </m:ctrlPr>
                      </m:sSubPr>
                      <m:e>
                        <m:r>
                          <a:rPr lang="en-US" sz="2400" b="1" i="1" dirty="0" err="1">
                            <a:latin typeface="Cambria Math" panose="02040503050406030204" pitchFamily="18" charset="0"/>
                          </a:rPr>
                          <m:t>𝒗</m:t>
                        </m:r>
                      </m:e>
                      <m:sub>
                        <m:r>
                          <a:rPr lang="en-US" sz="2400" b="1" i="1" dirty="0" smtClean="0">
                            <a:latin typeface="Cambria Math" panose="02040503050406030204" pitchFamily="18" charset="0"/>
                          </a:rPr>
                          <m:t>𝒔𝒕𝒂𝒓𝒕</m:t>
                        </m:r>
                      </m:sub>
                    </m:sSub>
                    <m:r>
                      <a:rPr lang="en-US" sz="2400" b="1" i="1" dirty="0">
                        <a:latin typeface="Cambria Math" panose="02040503050406030204" pitchFamily="18" charset="0"/>
                      </a:rPr>
                      <m:t>) = </m:t>
                    </m:r>
                    <m:r>
                      <a:rPr lang="en-US" sz="2400" b="1" i="1" dirty="0">
                        <a:latin typeface="Cambria Math" panose="02040503050406030204" pitchFamily="18" charset="0"/>
                      </a:rPr>
                      <m:t>𝟏</m:t>
                    </m:r>
                  </m:oMath>
                </a14:m>
                <a:endParaRPr lang="en-US" sz="2400" dirty="0"/>
              </a:p>
              <a:p>
                <a:pPr lvl="1"/>
                <a:r>
                  <a:rPr lang="en-US" sz="2400" dirty="0"/>
                  <a:t>All other nodes: </a:t>
                </a:r>
                <a14:m>
                  <m:oMath xmlns:m="http://schemas.openxmlformats.org/officeDocument/2006/math">
                    <m:r>
                      <a:rPr lang="en-US" sz="2400" b="1" i="1" dirty="0" smtClean="0">
                        <a:latin typeface="Cambria Math" panose="02040503050406030204" pitchFamily="18" charset="0"/>
                      </a:rPr>
                      <m:t>𝑺</m:t>
                    </m:r>
                    <m:r>
                      <a:rPr lang="en-US" sz="2400" b="1" i="1" dirty="0" smtClean="0">
                        <a:latin typeface="Cambria Math" panose="02040503050406030204" pitchFamily="18" charset="0"/>
                      </a:rPr>
                      <m:t> = </m:t>
                    </m:r>
                    <m:r>
                      <a:rPr lang="en-US" sz="2400" b="1" i="1" dirty="0" smtClean="0">
                        <a:latin typeface="Cambria Math" panose="02040503050406030204" pitchFamily="18" charset="0"/>
                      </a:rPr>
                      <m:t>𝟎</m:t>
                    </m:r>
                  </m:oMath>
                </a14:m>
                <a:endParaRPr lang="en-US" sz="2400" dirty="0"/>
              </a:p>
              <a:p>
                <a:endParaRPr lang="en-US" sz="2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1" y="1303189"/>
                <a:ext cx="9905999" cy="4576616"/>
              </a:xfrm>
              <a:blipFill>
                <a:blip r:embed="rId3"/>
                <a:stretch>
                  <a:fillRect l="-1600" t="-2130"/>
                </a:stretch>
              </a:blipFill>
            </p:spPr>
            <p:txBody>
              <a:bodyPr/>
              <a:lstStyle/>
              <a:p>
                <a:r>
                  <a:rPr lang="en-US">
                    <a:noFill/>
                  </a:rPr>
                  <a:t> </a:t>
                </a:r>
              </a:p>
            </p:txBody>
          </p:sp>
        </mc:Fallback>
      </mc:AlternateContent>
    </p:spTree>
    <p:extLst>
      <p:ext uri="{BB962C8B-B14F-4D97-AF65-F5344CB8AC3E}">
        <p14:creationId xmlns:p14="http://schemas.microsoft.com/office/powerpoint/2010/main" val="14467078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1478570"/>
          </a:xfrm>
        </p:spPr>
        <p:txBody>
          <a:bodyPr/>
          <a:lstStyle/>
          <a:p>
            <a:r>
              <a:rPr lang="en-US" cap="none" dirty="0">
                <a:solidFill>
                  <a:srgbClr val="9900CC"/>
                </a:solidFill>
              </a:rPr>
              <a:t>R</a:t>
            </a:r>
            <a:r>
              <a:rPr lang="en-US" cap="none" dirty="0" smtClean="0">
                <a:solidFill>
                  <a:srgbClr val="9900CC"/>
                </a:solidFill>
              </a:rPr>
              <a:t>esource propagation rule</a:t>
            </a:r>
            <a:endParaRPr lang="en-US" cap="none" dirty="0">
              <a:solidFill>
                <a:srgbClr val="9900CC"/>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2" y="1212112"/>
                <a:ext cx="9905999" cy="5486400"/>
              </a:xfrm>
            </p:spPr>
            <p:txBody>
              <a:bodyPr>
                <a:normAutofit/>
              </a:bodyPr>
              <a:lstStyle/>
              <a:p>
                <a:r>
                  <a:rPr lang="en-US" dirty="0" smtClean="0"/>
                  <a:t>Resources are propagated through the graph using:</a:t>
                </a:r>
              </a:p>
              <a:p>
                <a:pPr marL="0" indent="0">
                  <a:buNone/>
                </a:pPr>
                <a:endParaRPr lang="en-US" dirty="0" smtClean="0"/>
              </a:p>
              <a:p>
                <a:pPr marL="914400" lvl="2" indent="0">
                  <a:buNone/>
                </a:pPr>
                <a14:m>
                  <m:oMathPara xmlns:m="http://schemas.openxmlformats.org/officeDocument/2006/math">
                    <m:oMathParaPr>
                      <m:jc m:val="centerGroup"/>
                    </m:oMathParaPr>
                    <m:oMath xmlns:m="http://schemas.openxmlformats.org/officeDocument/2006/math">
                      <m:r>
                        <a:rPr lang="en-US" sz="2400" i="1" dirty="0" smtClean="0">
                          <a:latin typeface="Cambria Math" panose="02040503050406030204" pitchFamily="18" charset="0"/>
                        </a:rPr>
                        <m:t>𝑆</m:t>
                      </m:r>
                      <m:d>
                        <m:dPr>
                          <m:ctrlPr>
                            <a:rPr lang="en-US" sz="2400" i="1" dirty="0" smtClean="0">
                              <a:latin typeface="Cambria Math" panose="02040503050406030204" pitchFamily="18" charset="0"/>
                            </a:rPr>
                          </m:ctrlPr>
                        </m:dPr>
                        <m:e>
                          <m:sSub>
                            <m:sSubPr>
                              <m:ctrlPr>
                                <a:rPr lang="en-US" sz="2400" b="0" i="1" dirty="0" smtClean="0">
                                  <a:latin typeface="Cambria Math" panose="02040503050406030204" pitchFamily="18" charset="0"/>
                                </a:rPr>
                              </m:ctrlPr>
                            </m:sSubPr>
                            <m:e>
                              <m:r>
                                <a:rPr lang="en-US" sz="2400" i="1" dirty="0" smtClean="0">
                                  <a:latin typeface="Cambria Math" panose="02040503050406030204" pitchFamily="18" charset="0"/>
                                </a:rPr>
                                <m:t>𝑣</m:t>
                              </m:r>
                            </m:e>
                            <m:sub>
                              <m:r>
                                <a:rPr lang="en-US" sz="2400" i="1" dirty="0" smtClean="0">
                                  <a:latin typeface="Cambria Math" panose="02040503050406030204" pitchFamily="18" charset="0"/>
                                </a:rPr>
                                <m:t>𝑖</m:t>
                              </m:r>
                            </m:sub>
                          </m:sSub>
                          <m:r>
                            <a:rPr lang="en-US" sz="2400" i="1" dirty="0" smtClean="0">
                              <a:latin typeface="Cambria Math" panose="02040503050406030204" pitchFamily="18" charset="0"/>
                            </a:rPr>
                            <m:t>​</m:t>
                          </m:r>
                        </m:e>
                      </m:d>
                      <m:r>
                        <a:rPr lang="en-US" sz="2400" i="1" dirty="0" smtClean="0">
                          <a:latin typeface="Cambria Math" panose="02040503050406030204" pitchFamily="18" charset="0"/>
                        </a:rPr>
                        <m:t>=</m:t>
                      </m:r>
                      <m:nary>
                        <m:naryPr>
                          <m:chr m:val="∑"/>
                          <m:supHide m:val="on"/>
                          <m:ctrlPr>
                            <a:rPr lang="en-US" sz="2400" i="1" dirty="0" smtClean="0">
                              <a:latin typeface="Cambria Math" panose="02040503050406030204" pitchFamily="18" charset="0"/>
                            </a:rPr>
                          </m:ctrlPr>
                        </m:naryPr>
                        <m:sub>
                          <m:sSub>
                            <m:sSubPr>
                              <m:ctrlPr>
                                <a:rPr lang="en-US" sz="2400" i="1" dirty="0">
                                  <a:latin typeface="Cambria Math" panose="02040503050406030204" pitchFamily="18" charset="0"/>
                                </a:rPr>
                              </m:ctrlPr>
                            </m:sSubPr>
                            <m:e>
                              <m:r>
                                <a:rPr lang="en-US" sz="2400" i="1" dirty="0" err="1">
                                  <a:latin typeface="Cambria Math" panose="02040503050406030204" pitchFamily="18" charset="0"/>
                                </a:rPr>
                                <m:t>𝑣</m:t>
                              </m:r>
                            </m:e>
                            <m:sub>
                              <m:r>
                                <a:rPr lang="en-US" sz="2400" i="1" dirty="0" err="1">
                                  <a:latin typeface="Cambria Math" panose="02040503050406030204" pitchFamily="18" charset="0"/>
                                </a:rPr>
                                <m:t>𝑗</m:t>
                              </m:r>
                            </m:sub>
                          </m:sSub>
                          <m:r>
                            <a:rPr lang="en-US" sz="2400" i="1" dirty="0">
                              <a:latin typeface="Cambria Math" panose="02040503050406030204" pitchFamily="18" charset="0"/>
                            </a:rPr>
                            <m:t>​∈</m:t>
                          </m:r>
                          <m:r>
                            <a:rPr lang="en-US" sz="2400" i="1" dirty="0">
                              <a:latin typeface="Cambria Math" panose="02040503050406030204" pitchFamily="18" charset="0"/>
                            </a:rPr>
                            <m:t>𝑁</m:t>
                          </m:r>
                          <m:d>
                            <m:dPr>
                              <m:ctrlPr>
                                <a:rPr lang="en-US" sz="2400" i="1" dirty="0">
                                  <a:latin typeface="Cambria Math" panose="02040503050406030204" pitchFamily="18" charset="0"/>
                                </a:rPr>
                              </m:ctrlPr>
                            </m:dPr>
                            <m:e>
                              <m:r>
                                <a:rPr lang="en-US" sz="2400" i="1" dirty="0">
                                  <a:latin typeface="Cambria Math" panose="02040503050406030204" pitchFamily="18" charset="0"/>
                                </a:rPr>
                                <m:t>⋅,</m:t>
                              </m:r>
                              <m:sSub>
                                <m:sSubPr>
                                  <m:ctrlPr>
                                    <a:rPr lang="en-US" sz="2400" i="1" dirty="0">
                                      <a:latin typeface="Cambria Math" panose="02040503050406030204" pitchFamily="18" charset="0"/>
                                    </a:rPr>
                                  </m:ctrlPr>
                                </m:sSubPr>
                                <m:e>
                                  <m:r>
                                    <a:rPr lang="en-US" sz="2400" b="0" i="1" dirty="0" smtClean="0">
                                      <a:latin typeface="Cambria Math" panose="02040503050406030204" pitchFamily="18" charset="0"/>
                                    </a:rPr>
                                    <m:t> </m:t>
                                  </m:r>
                                  <m:r>
                                    <a:rPr lang="en-US" sz="2400" i="1" dirty="0">
                                      <a:latin typeface="Cambria Math" panose="02040503050406030204" pitchFamily="18" charset="0"/>
                                    </a:rPr>
                                    <m:t>𝑣</m:t>
                                  </m:r>
                                </m:e>
                                <m:sub>
                                  <m:r>
                                    <a:rPr lang="en-US" sz="2400" i="1" dirty="0">
                                      <a:latin typeface="Cambria Math" panose="02040503050406030204" pitchFamily="18" charset="0"/>
                                    </a:rPr>
                                    <m:t>𝑖</m:t>
                                  </m:r>
                                  <m:r>
                                    <a:rPr lang="en-US" sz="2400" i="1" dirty="0">
                                      <a:latin typeface="Cambria Math" panose="02040503050406030204" pitchFamily="18" charset="0"/>
                                    </a:rPr>
                                    <m:t>​</m:t>
                                  </m:r>
                                </m:sub>
                              </m:sSub>
                            </m:e>
                          </m:d>
                        </m:sub>
                        <m:sup/>
                        <m:e>
                          <m:f>
                            <m:fPr>
                              <m:ctrlPr>
                                <a:rPr lang="en-US" sz="2400" b="0" i="1" dirty="0" smtClean="0">
                                  <a:latin typeface="Cambria Math" panose="02040503050406030204" pitchFamily="18" charset="0"/>
                                  <a:ea typeface="Cambria Math" panose="02040503050406030204" pitchFamily="18" charset="0"/>
                                </a:rPr>
                              </m:ctrlPr>
                            </m:fPr>
                            <m:num>
                              <m:r>
                                <a:rPr lang="en-US" sz="2400" i="1" dirty="0" smtClean="0">
                                  <a:latin typeface="Cambria Math" panose="02040503050406030204" pitchFamily="18" charset="0"/>
                                  <a:ea typeface="Cambria Math" panose="02040503050406030204" pitchFamily="18" charset="0"/>
                                </a:rPr>
                                <m:t>𝛼</m:t>
                              </m:r>
                              <m:r>
                                <a:rPr lang="en-US" sz="2400" b="0" i="1" dirty="0" smtClean="0">
                                  <a:latin typeface="Cambria Math" panose="02040503050406030204" pitchFamily="18" charset="0"/>
                                  <a:ea typeface="Cambria Math" panose="02040503050406030204" pitchFamily="18" charset="0"/>
                                </a:rPr>
                                <m:t> </m:t>
                              </m:r>
                              <m:r>
                                <a:rPr lang="en-US" sz="2400" b="0" i="1" dirty="0" smtClean="0">
                                  <a:latin typeface="Cambria Math" panose="02040503050406030204" pitchFamily="18" charset="0"/>
                                  <a:ea typeface="Cambria Math" panose="02040503050406030204" pitchFamily="18" charset="0"/>
                                </a:rPr>
                                <m:t>𝑆</m:t>
                              </m:r>
                              <m:d>
                                <m:dPr>
                                  <m:ctrlPr>
                                    <a:rPr lang="en-US" sz="2400" b="0" i="1" dirty="0" smtClean="0">
                                      <a:latin typeface="Cambria Math" panose="02040503050406030204" pitchFamily="18" charset="0"/>
                                      <a:ea typeface="Cambria Math" panose="02040503050406030204" pitchFamily="18" charset="0"/>
                                    </a:rPr>
                                  </m:ctrlPr>
                                </m:dPr>
                                <m:e>
                                  <m:sSub>
                                    <m:sSubPr>
                                      <m:ctrlPr>
                                        <a:rPr lang="en-US" sz="2400" b="0" i="1" dirty="0" smtClean="0">
                                          <a:latin typeface="Cambria Math" panose="02040503050406030204" pitchFamily="18" charset="0"/>
                                          <a:ea typeface="Cambria Math" panose="02040503050406030204" pitchFamily="18" charset="0"/>
                                        </a:rPr>
                                      </m:ctrlPr>
                                    </m:sSubPr>
                                    <m:e>
                                      <m:r>
                                        <a:rPr lang="en-US" sz="2400" b="0" i="1" dirty="0" smtClean="0">
                                          <a:latin typeface="Cambria Math" panose="02040503050406030204" pitchFamily="18" charset="0"/>
                                          <a:ea typeface="Cambria Math" panose="02040503050406030204" pitchFamily="18" charset="0"/>
                                        </a:rPr>
                                        <m:t>𝑣</m:t>
                                      </m:r>
                                    </m:e>
                                    <m:sub>
                                      <m:r>
                                        <a:rPr lang="en-US" sz="2400" b="0" i="1" dirty="0" smtClean="0">
                                          <a:latin typeface="Cambria Math" panose="02040503050406030204" pitchFamily="18" charset="0"/>
                                          <a:ea typeface="Cambria Math" panose="02040503050406030204" pitchFamily="18" charset="0"/>
                                        </a:rPr>
                                        <m:t>𝑗</m:t>
                                      </m:r>
                                    </m:sub>
                                  </m:sSub>
                                </m:e>
                              </m:d>
                            </m:num>
                            <m:den>
                              <m:d>
                                <m:dPr>
                                  <m:begChr m:val="|"/>
                                  <m:endChr m:val="|"/>
                                  <m:ctrlPr>
                                    <a:rPr lang="en-US" sz="2400" b="0" i="1" dirty="0" smtClean="0">
                                      <a:latin typeface="Cambria Math" panose="02040503050406030204" pitchFamily="18" charset="0"/>
                                      <a:ea typeface="Cambria Math" panose="02040503050406030204" pitchFamily="18" charset="0"/>
                                    </a:rPr>
                                  </m:ctrlPr>
                                </m:dPr>
                                <m:e>
                                  <m:r>
                                    <a:rPr lang="en-US" sz="2400" i="1" dirty="0">
                                      <a:latin typeface="Cambria Math" panose="02040503050406030204" pitchFamily="18" charset="0"/>
                                    </a:rPr>
                                    <m:t>𝑁</m:t>
                                  </m:r>
                                  <m:d>
                                    <m:dPr>
                                      <m:ctrlPr>
                                        <a:rPr lang="en-US" sz="2400" i="1" dirty="0">
                                          <a:latin typeface="Cambria Math" panose="02040503050406030204" pitchFamily="18" charset="0"/>
                                        </a:rPr>
                                      </m:ctrlPr>
                                    </m:dPr>
                                    <m:e>
                                      <m:sSub>
                                        <m:sSubPr>
                                          <m:ctrlPr>
                                            <a:rPr lang="en-US" sz="2400" i="1" dirty="0">
                                              <a:latin typeface="Cambria Math" panose="02040503050406030204" pitchFamily="18" charset="0"/>
                                            </a:rPr>
                                          </m:ctrlPr>
                                        </m:sSubPr>
                                        <m:e>
                                          <m:r>
                                            <a:rPr lang="en-US" sz="2400" i="1" dirty="0">
                                              <a:latin typeface="Cambria Math" panose="02040503050406030204" pitchFamily="18" charset="0"/>
                                            </a:rPr>
                                            <m:t>𝑣</m:t>
                                          </m:r>
                                        </m:e>
                                        <m:sub>
                                          <m:r>
                                            <a:rPr lang="en-US" sz="2400" i="1" dirty="0">
                                              <a:latin typeface="Cambria Math" panose="02040503050406030204" pitchFamily="18" charset="0"/>
                                            </a:rPr>
                                            <m:t>𝑖</m:t>
                                          </m:r>
                                          <m:r>
                                            <a:rPr lang="en-US" sz="2400" i="1" dirty="0">
                                              <a:latin typeface="Cambria Math" panose="02040503050406030204" pitchFamily="18" charset="0"/>
                                            </a:rPr>
                                            <m:t>​</m:t>
                                          </m:r>
                                        </m:sub>
                                      </m:sSub>
                                      <m:r>
                                        <a:rPr lang="en-US" sz="2400" b="0" i="1" dirty="0" smtClean="0">
                                          <a:latin typeface="Cambria Math" panose="02040503050406030204" pitchFamily="18" charset="0"/>
                                        </a:rPr>
                                        <m:t>,   </m:t>
                                      </m:r>
                                      <m:r>
                                        <a:rPr lang="en-US" sz="2400" i="1" dirty="0">
                                          <a:latin typeface="Cambria Math" panose="02040503050406030204" pitchFamily="18" charset="0"/>
                                        </a:rPr>
                                        <m:t>⋅</m:t>
                                      </m:r>
                                    </m:e>
                                  </m:d>
                                </m:e>
                              </m:d>
                            </m:den>
                          </m:f>
                        </m:e>
                      </m:nary>
                      <m:r>
                        <a:rPr lang="en-US" sz="2400" i="1" dirty="0">
                          <a:latin typeface="Cambria Math" panose="02040503050406030204" pitchFamily="18" charset="0"/>
                        </a:rPr>
                        <m:t>​</m:t>
                      </m:r>
                    </m:oMath>
                  </m:oMathPara>
                </a14:m>
                <a:endParaRPr lang="en-US" sz="2400" i="1" dirty="0" smtClean="0">
                  <a:latin typeface="Cambria Math" panose="02040503050406030204" pitchFamily="18" charset="0"/>
                </a:endParaRPr>
              </a:p>
              <a:p>
                <a:pPr marL="914400" lvl="2" indent="0">
                  <a:buNone/>
                </a:pPr>
                <a:endParaRPr lang="en-US" sz="2400" i="1" dirty="0" smtClean="0">
                  <a:latin typeface="Cambria Math" panose="02040503050406030204" pitchFamily="18" charset="0"/>
                </a:endParaRPr>
              </a:p>
              <a:p>
                <a14:m>
                  <m:oMath xmlns:m="http://schemas.openxmlformats.org/officeDocument/2006/math">
                    <m:r>
                      <a:rPr lang="en-US" b="1" i="1" dirty="0" smtClean="0">
                        <a:latin typeface="Cambria Math" panose="02040503050406030204" pitchFamily="18" charset="0"/>
                      </a:rPr>
                      <m:t>𝜶</m:t>
                    </m:r>
                    <m:r>
                      <a:rPr lang="en-US" i="1" dirty="0">
                        <a:latin typeface="Cambria Math" panose="02040503050406030204" pitchFamily="18" charset="0"/>
                      </a:rPr>
                      <m:t> </m:t>
                    </m:r>
                  </m:oMath>
                </a14:m>
                <a:r>
                  <a:rPr lang="en-US" dirty="0"/>
                  <a:t>is a decay factor controlling information loss over distance.</a:t>
                </a:r>
                <a14:m>
                  <m:oMath xmlns:m="http://schemas.openxmlformats.org/officeDocument/2006/math">
                    <m:r>
                      <a:rPr lang="en-US" i="1" dirty="0">
                        <a:latin typeface="Cambria Math" panose="02040503050406030204" pitchFamily="18" charset="0"/>
                      </a:rPr>
                      <m:t>​</m:t>
                    </m:r>
                  </m:oMath>
                </a14:m>
                <a:endParaRPr lang="en-US" dirty="0" smtClean="0"/>
              </a:p>
              <a:p>
                <a:r>
                  <a:rPr lang="en-US" dirty="0"/>
                  <a:t>Resources are split among outgoing neighbors</a:t>
                </a:r>
                <a:r>
                  <a:rPr lang="en-US" dirty="0" smtClean="0"/>
                  <a:t>.</a:t>
                </a:r>
              </a:p>
              <a:p>
                <a:r>
                  <a:rPr lang="en-US" dirty="0"/>
                  <a:t>Nodes closer to the start node receive more resource, while distant nodes receive less.</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2" y="1212112"/>
                <a:ext cx="9905999" cy="5486400"/>
              </a:xfrm>
              <a:blipFill>
                <a:blip r:embed="rId3"/>
                <a:stretch>
                  <a:fillRect l="-1231" t="-1556"/>
                </a:stretch>
              </a:blipFill>
            </p:spPr>
            <p:txBody>
              <a:bodyPr/>
              <a:lstStyle/>
              <a:p>
                <a:r>
                  <a:rPr lang="en-US">
                    <a:noFill/>
                  </a:rPr>
                  <a:t> </a:t>
                </a:r>
              </a:p>
            </p:txBody>
          </p:sp>
        </mc:Fallback>
      </mc:AlternateContent>
    </p:spTree>
    <p:extLst>
      <p:ext uri="{BB962C8B-B14F-4D97-AF65-F5344CB8AC3E}">
        <p14:creationId xmlns:p14="http://schemas.microsoft.com/office/powerpoint/2010/main" val="42214688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52044" y="754911"/>
            <a:ext cx="9905999" cy="5408429"/>
          </a:xfrm>
        </p:spPr>
        <p:txBody>
          <a:bodyPr>
            <a:normAutofit/>
          </a:bodyPr>
          <a:lstStyle/>
          <a:p>
            <a:r>
              <a:rPr lang="en-US" sz="2600" dirty="0"/>
              <a:t>The decay factor </a:t>
            </a:r>
            <a:r>
              <a:rPr lang="en-US" sz="2600" b="1" dirty="0"/>
              <a:t>penalizes distant nodes</a:t>
            </a:r>
            <a:r>
              <a:rPr lang="en-US" sz="2600" dirty="0"/>
              <a:t>, making the retriever sensitive to graph distance</a:t>
            </a:r>
            <a:r>
              <a:rPr lang="en-US" sz="2600" dirty="0" smtClean="0"/>
              <a:t>.</a:t>
            </a:r>
          </a:p>
          <a:p>
            <a:r>
              <a:rPr lang="en-US" sz="2600" dirty="0"/>
              <a:t>Stronger, shorter connections accumulate more </a:t>
            </a:r>
            <a:r>
              <a:rPr lang="en-US" sz="2600" dirty="0" smtClean="0"/>
              <a:t>resource.</a:t>
            </a:r>
          </a:p>
          <a:p>
            <a:r>
              <a:rPr lang="en-US" sz="2600" dirty="0"/>
              <a:t>Paths with higher total resource are considered </a:t>
            </a:r>
            <a:r>
              <a:rPr lang="en-US" sz="2600" b="1" dirty="0"/>
              <a:t>more important</a:t>
            </a:r>
            <a:r>
              <a:rPr lang="en-US" sz="2600" dirty="0" smtClean="0"/>
              <a:t>.</a:t>
            </a:r>
          </a:p>
          <a:p>
            <a:pPr marL="0" indent="0">
              <a:buNone/>
            </a:pPr>
            <a:endParaRPr lang="en-US" sz="2600" dirty="0" smtClean="0"/>
          </a:p>
          <a:p>
            <a:r>
              <a:rPr lang="en-US" sz="2600" dirty="0"/>
              <a:t>This method does </a:t>
            </a:r>
            <a:r>
              <a:rPr lang="en-US" sz="2600" b="1" dirty="0"/>
              <a:t>not rely on fixed hop limits</a:t>
            </a:r>
            <a:r>
              <a:rPr lang="en-US" sz="2600" dirty="0" smtClean="0"/>
              <a:t>.</a:t>
            </a:r>
          </a:p>
          <a:p>
            <a:r>
              <a:rPr lang="en-US" sz="2600" dirty="0"/>
              <a:t>Path importance is determined by </a:t>
            </a:r>
            <a:r>
              <a:rPr lang="en-US" sz="2600" b="1" dirty="0"/>
              <a:t>connection strength</a:t>
            </a:r>
            <a:r>
              <a:rPr lang="en-US" sz="2600" dirty="0"/>
              <a:t>, not just path length</a:t>
            </a:r>
            <a:r>
              <a:rPr lang="en-US" sz="2600" dirty="0" smtClean="0"/>
              <a:t>.</a:t>
            </a:r>
          </a:p>
          <a:p>
            <a:r>
              <a:rPr lang="en-US" sz="2600" dirty="0"/>
              <a:t>Enables flexible and effective pruning for complex graph structures.</a:t>
            </a:r>
          </a:p>
        </p:txBody>
      </p:sp>
    </p:spTree>
    <p:extLst>
      <p:ext uri="{BB962C8B-B14F-4D97-AF65-F5344CB8AC3E}">
        <p14:creationId xmlns:p14="http://schemas.microsoft.com/office/powerpoint/2010/main" val="3940002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0"/>
            <a:ext cx="9905998" cy="1478570"/>
          </a:xfrm>
        </p:spPr>
        <p:txBody>
          <a:bodyPr/>
          <a:lstStyle/>
          <a:p>
            <a:r>
              <a:rPr lang="en-US" cap="none" dirty="0">
                <a:solidFill>
                  <a:srgbClr val="9900CC"/>
                </a:solidFill>
              </a:rPr>
              <a:t>S</a:t>
            </a:r>
            <a:r>
              <a:rPr lang="en-US" cap="none" dirty="0" smtClean="0">
                <a:solidFill>
                  <a:srgbClr val="9900CC"/>
                </a:solidFill>
              </a:rPr>
              <a:t>topping criterion</a:t>
            </a:r>
            <a:endParaRPr lang="en-US" cap="none" dirty="0">
              <a:solidFill>
                <a:srgbClr val="9900CC"/>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2" y="1478569"/>
                <a:ext cx="9905999" cy="4720211"/>
              </a:xfrm>
            </p:spPr>
            <p:txBody>
              <a:bodyPr>
                <a:normAutofit/>
              </a:bodyPr>
              <a:lstStyle/>
              <a:p>
                <a:r>
                  <a:rPr lang="en-US" sz="2600" dirty="0" smtClean="0"/>
                  <a:t>An </a:t>
                </a:r>
                <a:r>
                  <a:rPr lang="en-US" sz="2600" b="1" dirty="0"/>
                  <a:t>early stopping strategy</a:t>
                </a:r>
                <a:r>
                  <a:rPr lang="en-US" sz="2600" dirty="0"/>
                  <a:t> is introduced to prune paths during propagation</a:t>
                </a:r>
                <a:r>
                  <a:rPr lang="en-US" sz="2600" dirty="0" smtClean="0"/>
                  <a:t>.</a:t>
                </a:r>
              </a:p>
              <a:p>
                <a:r>
                  <a:rPr lang="en-US" sz="2600" dirty="0"/>
                  <a:t>A node </a:t>
                </a:r>
                <a:r>
                  <a:rPr lang="en-US" sz="2600" b="1" dirty="0"/>
                  <a:t>vᵢ</a:t>
                </a:r>
                <a:r>
                  <a:rPr lang="en-US" sz="2600" dirty="0"/>
                  <a:t> is pruned when</a:t>
                </a:r>
                <a:r>
                  <a:rPr lang="en-US" sz="2600" dirty="0" smtClean="0"/>
                  <a:t>:</a:t>
                </a:r>
              </a:p>
              <a:p>
                <a:pPr marL="914400" lvl="2" indent="0">
                  <a:buNone/>
                </a:pPr>
                <a14:m>
                  <m:oMathPara xmlns:m="http://schemas.openxmlformats.org/officeDocument/2006/math">
                    <m:oMathParaPr>
                      <m:jc m:val="centerGroup"/>
                    </m:oMathParaPr>
                    <m:oMath xmlns:m="http://schemas.openxmlformats.org/officeDocument/2006/math">
                      <m:f>
                        <m:fPr>
                          <m:ctrlPr>
                            <a:rPr lang="en-US" sz="2800" b="0" i="1" smtClean="0">
                              <a:latin typeface="Cambria Math" panose="02040503050406030204" pitchFamily="18" charset="0"/>
                            </a:rPr>
                          </m:ctrlPr>
                        </m:fPr>
                        <m:num>
                          <m:r>
                            <a:rPr lang="en-US" sz="2800" b="0" i="1" smtClean="0">
                              <a:latin typeface="Cambria Math" panose="02040503050406030204" pitchFamily="18" charset="0"/>
                            </a:rPr>
                            <m:t>𝑆</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𝑖</m:t>
                                  </m:r>
                                </m:sub>
                              </m:sSub>
                            </m:e>
                          </m:d>
                        </m:num>
                        <m:den>
                          <m:d>
                            <m:dPr>
                              <m:begChr m:val="|"/>
                              <m:endChr m:val="|"/>
                              <m:ctrlPr>
                                <a:rPr lang="en-US" sz="2800" b="0" i="1" smtClean="0">
                                  <a:latin typeface="Cambria Math" panose="02040503050406030204" pitchFamily="18" charset="0"/>
                                </a:rPr>
                              </m:ctrlPr>
                            </m:dPr>
                            <m:e>
                              <m:r>
                                <a:rPr lang="en-US" sz="2800" b="0" i="1" smtClean="0">
                                  <a:latin typeface="Cambria Math" panose="02040503050406030204" pitchFamily="18" charset="0"/>
                                </a:rPr>
                                <m:t>𝑁</m:t>
                              </m:r>
                              <m:d>
                                <m:dPr>
                                  <m:ctrlPr>
                                    <a:rPr lang="en-US" sz="2800" b="0" i="1" smtClean="0">
                                      <a:latin typeface="Cambria Math" panose="02040503050406030204" pitchFamily="18" charset="0"/>
                                    </a:rPr>
                                  </m:ctrlPr>
                                </m:dPr>
                                <m:e>
                                  <m:sSub>
                                    <m:sSubPr>
                                      <m:ctrlPr>
                                        <a:rPr lang="en-US" sz="2800" b="0" i="1" smtClean="0">
                                          <a:latin typeface="Cambria Math" panose="02040503050406030204" pitchFamily="18" charset="0"/>
                                        </a:rPr>
                                      </m:ctrlPr>
                                    </m:sSubPr>
                                    <m:e>
                                      <m:r>
                                        <a:rPr lang="en-US" sz="2800" b="0" i="1" smtClean="0">
                                          <a:latin typeface="Cambria Math" panose="02040503050406030204" pitchFamily="18" charset="0"/>
                                        </a:rPr>
                                        <m:t>𝑣</m:t>
                                      </m:r>
                                    </m:e>
                                    <m:sub>
                                      <m:r>
                                        <a:rPr lang="en-US" sz="2800" b="0" i="1" smtClean="0">
                                          <a:latin typeface="Cambria Math" panose="02040503050406030204" pitchFamily="18" charset="0"/>
                                        </a:rPr>
                                        <m:t>𝑖</m:t>
                                      </m:r>
                                    </m:sub>
                                  </m:sSub>
                                </m:e>
                              </m:d>
                            </m:e>
                          </m:d>
                        </m:den>
                      </m:f>
                      <m:r>
                        <a:rPr lang="en-US" sz="2800" b="0" i="1" smtClean="0">
                          <a:latin typeface="Cambria Math" panose="02040503050406030204" pitchFamily="18" charset="0"/>
                        </a:rPr>
                        <m:t>&lt;</m:t>
                      </m:r>
                      <m:r>
                        <m:rPr>
                          <m:sty m:val="p"/>
                        </m:rPr>
                        <a:rPr lang="el-GR" sz="2800" b="1" i="1" dirty="0" smtClean="0">
                          <a:latin typeface="Cambria Math" panose="02040503050406030204" pitchFamily="18" charset="0"/>
                        </a:rPr>
                        <m:t>θ</m:t>
                      </m:r>
                    </m:oMath>
                  </m:oMathPara>
                </a14:m>
                <a:endParaRPr lang="en-US" sz="2800" dirty="0"/>
              </a:p>
              <a:p>
                <a14:m>
                  <m:oMath xmlns:m="http://schemas.openxmlformats.org/officeDocument/2006/math">
                    <m:r>
                      <m:rPr>
                        <m:sty m:val="p"/>
                      </m:rPr>
                      <a:rPr lang="el-GR" sz="2600" b="1" i="1" dirty="0">
                        <a:latin typeface="Cambria Math" panose="02040503050406030204" pitchFamily="18" charset="0"/>
                      </a:rPr>
                      <m:t>θ</m:t>
                    </m:r>
                  </m:oMath>
                </a14:m>
                <a:r>
                  <a:rPr lang="en-US" sz="2600" dirty="0" smtClean="0"/>
                  <a:t> </a:t>
                </a:r>
                <a:r>
                  <a:rPr lang="en-US" sz="2600" dirty="0"/>
                  <a:t>is </a:t>
                </a:r>
                <a:r>
                  <a:rPr lang="en-US" sz="2600" dirty="0" smtClean="0"/>
                  <a:t>a predefined </a:t>
                </a:r>
                <a:r>
                  <a:rPr lang="en-US" sz="2600" b="1" dirty="0"/>
                  <a:t>pruning threshold</a:t>
                </a:r>
                <a:r>
                  <a:rPr lang="en-US" sz="2600" dirty="0" smtClean="0"/>
                  <a:t>.</a:t>
                </a:r>
              </a:p>
              <a:p>
                <a:r>
                  <a:rPr lang="en-US" sz="2600" dirty="0"/>
                  <a:t>The resource is normalized by the node’s out-degree to measure its actual contribution.</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2" y="1478569"/>
                <a:ext cx="9905999" cy="4720211"/>
              </a:xfrm>
              <a:blipFill>
                <a:blip r:embed="rId3"/>
                <a:stretch>
                  <a:fillRect l="-1415" t="-1938"/>
                </a:stretch>
              </a:blipFill>
            </p:spPr>
            <p:txBody>
              <a:bodyPr/>
              <a:lstStyle/>
              <a:p>
                <a:r>
                  <a:rPr lang="en-US">
                    <a:noFill/>
                  </a:rPr>
                  <a:t> </a:t>
                </a:r>
              </a:p>
            </p:txBody>
          </p:sp>
        </mc:Fallback>
      </mc:AlternateContent>
    </p:spTree>
    <p:extLst>
      <p:ext uri="{BB962C8B-B14F-4D97-AF65-F5344CB8AC3E}">
        <p14:creationId xmlns:p14="http://schemas.microsoft.com/office/powerpoint/2010/main" val="2001119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5088" y="0"/>
            <a:ext cx="9905998" cy="1478570"/>
          </a:xfrm>
        </p:spPr>
        <p:txBody>
          <a:bodyPr/>
          <a:lstStyle/>
          <a:p>
            <a:r>
              <a:rPr lang="en-US" cap="none" dirty="0">
                <a:solidFill>
                  <a:srgbClr val="9900CC"/>
                </a:solidFill>
              </a:rPr>
              <a:t>P</a:t>
            </a:r>
            <a:r>
              <a:rPr lang="en-US" cap="none" dirty="0" smtClean="0">
                <a:solidFill>
                  <a:srgbClr val="9900CC"/>
                </a:solidFill>
              </a:rPr>
              <a:t>ath reliability measurement</a:t>
            </a:r>
            <a:endParaRPr lang="en-US" cap="none" dirty="0">
              <a:solidFill>
                <a:srgbClr val="9900CC"/>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2" y="1318437"/>
                <a:ext cx="9905999" cy="4678326"/>
              </a:xfrm>
            </p:spPr>
            <p:txBody>
              <a:bodyPr>
                <a:normAutofit/>
              </a:bodyPr>
              <a:lstStyle/>
              <a:p>
                <a:r>
                  <a:rPr lang="en-US" dirty="0" smtClean="0"/>
                  <a:t>For each path </a:t>
                </a:r>
                <a:r>
                  <a:rPr lang="en-US" b="1" dirty="0"/>
                  <a:t>P</a:t>
                </a:r>
                <a:r>
                  <a:rPr lang="en-US" dirty="0"/>
                  <a:t>, a </a:t>
                </a:r>
                <a:r>
                  <a:rPr lang="en-US" b="1" dirty="0"/>
                  <a:t>reliability score</a:t>
                </a:r>
                <a:r>
                  <a:rPr lang="en-US" dirty="0"/>
                  <a:t> is computed</a:t>
                </a:r>
                <a:r>
                  <a:rPr lang="en-US" dirty="0" smtClean="0"/>
                  <a:t>.</a:t>
                </a:r>
              </a:p>
              <a:p>
                <a:r>
                  <a:rPr lang="en-US" dirty="0"/>
                  <a:t>Reliability is defined as the </a:t>
                </a:r>
                <a:r>
                  <a:rPr lang="en-US" b="1" dirty="0"/>
                  <a:t>average resource value</a:t>
                </a:r>
                <a:r>
                  <a:rPr lang="en-US" dirty="0"/>
                  <a:t> along the path</a:t>
                </a:r>
                <a:r>
                  <a:rPr lang="en-US" dirty="0" smtClean="0"/>
                  <a: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𝑆</m:t>
                      </m:r>
                      <m:d>
                        <m:dPr>
                          <m:ctrlPr>
                            <a:rPr lang="en-US" b="0" i="1" smtClean="0">
                              <a:latin typeface="Cambria Math" panose="02040503050406030204" pitchFamily="18" charset="0"/>
                            </a:rPr>
                          </m:ctrlPr>
                        </m:dPr>
                        <m:e>
                          <m:r>
                            <a:rPr lang="en-US" b="0" i="1" smtClean="0">
                              <a:latin typeface="Cambria Math" panose="02040503050406030204" pitchFamily="18" charset="0"/>
                            </a:rPr>
                            <m:t>𝑃</m:t>
                          </m:r>
                        </m:e>
                      </m:d>
                      <m:r>
                        <a:rPr lang="en-US" b="0" i="1" smtClean="0">
                          <a:latin typeface="Cambria Math" panose="02040503050406030204" pitchFamily="18" charset="0"/>
                        </a:rPr>
                        <m:t>=</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ℰ</m:t>
                                  </m:r>
                                </m:e>
                                <m:sub>
                                  <m:r>
                                    <a:rPr lang="en-US" b="0" i="1" smtClean="0">
                                      <a:latin typeface="Cambria Math" panose="02040503050406030204" pitchFamily="18" charset="0"/>
                                      <a:ea typeface="Cambria Math" panose="02040503050406030204" pitchFamily="18" charset="0"/>
                                    </a:rPr>
                                    <m:t>𝑃</m:t>
                                  </m:r>
                                </m:sub>
                              </m:sSub>
                            </m:e>
                          </m:d>
                        </m:den>
                      </m:f>
                      <m:nary>
                        <m:naryPr>
                          <m:chr m:val="∑"/>
                          <m:supHide m:val="on"/>
                          <m:ctrlPr>
                            <a:rPr lang="en-US" b="0" i="1" smtClean="0">
                              <a:latin typeface="Cambria Math" panose="02040503050406030204" pitchFamily="18" charset="0"/>
                              <a:ea typeface="Cambria Math" panose="02040503050406030204" pitchFamily="18" charset="0"/>
                            </a:rPr>
                          </m:ctrlPr>
                        </m:naryPr>
                        <m:sub>
                          <m:sSub>
                            <m:sSubPr>
                              <m:ctrlPr>
                                <a:rPr lang="en-US" b="0" i="1" smtClean="0">
                                  <a:latin typeface="Cambria Math" panose="02040503050406030204" pitchFamily="18" charset="0"/>
                                  <a:ea typeface="Cambria Math" panose="02040503050406030204" pitchFamily="18" charset="0"/>
                                </a:rPr>
                              </m:ctrlPr>
                            </m:sSubPr>
                            <m:e>
                              <m:r>
                                <m:rPr>
                                  <m:brk m:alnAt="7"/>
                                </m:rPr>
                                <a:rPr lang="en-US" b="0" i="1" smtClean="0">
                                  <a:latin typeface="Cambria Math" panose="02040503050406030204" pitchFamily="18" charset="0"/>
                                  <a:ea typeface="Cambria Math" panose="02040503050406030204" pitchFamily="18" charset="0"/>
                                </a:rPr>
                                <m:t>𝑣</m:t>
                              </m:r>
                            </m:e>
                            <m:sub>
                              <m:r>
                                <m:rPr>
                                  <m:brk m:alnAt="7"/>
                                </m:rPr>
                                <a:rPr lang="en-US" b="0" i="1" smtClean="0">
                                  <a:latin typeface="Cambria Math" panose="02040503050406030204" pitchFamily="18" charset="0"/>
                                  <a:ea typeface="Cambria Math" panose="02040503050406030204" pitchFamily="18" charset="0"/>
                                </a:rPr>
                                <m:t>𝑖</m:t>
                              </m:r>
                            </m:sub>
                          </m:sSub>
                          <m:r>
                            <m:rPr>
                              <m:brk m:alnAt="7"/>
                            </m:rPr>
                            <a:rPr lang="en-US" b="0" i="1" smtClean="0">
                              <a:latin typeface="Cambria Math" panose="02040503050406030204" pitchFamily="18" charset="0"/>
                              <a:ea typeface="Cambria Math" panose="02040503050406030204" pitchFamily="18" charset="0"/>
                            </a:rPr>
                            <m:t>𝜖</m:t>
                          </m:r>
                          <m:r>
                            <a:rPr lang="en-US" b="0" i="1" smtClean="0">
                              <a:latin typeface="Cambria Math" panose="02040503050406030204" pitchFamily="18" charset="0"/>
                              <a:ea typeface="Cambria Math" panose="02040503050406030204" pitchFamily="18" charset="0"/>
                            </a:rPr>
                            <m:t>𝑃</m:t>
                          </m:r>
                        </m:sub>
                        <m:sup/>
                        <m:e>
                          <m:r>
                            <a:rPr lang="en-US" b="0" i="1" smtClean="0">
                              <a:latin typeface="Cambria Math" panose="02040503050406030204" pitchFamily="18" charset="0"/>
                              <a:ea typeface="Cambria Math" panose="02040503050406030204" pitchFamily="18" charset="0"/>
                            </a:rPr>
                            <m:t>𝑆</m:t>
                          </m:r>
                          <m:d>
                            <m:dPr>
                              <m:ctrlPr>
                                <a:rPr lang="en-US" b="0" i="1" smtClean="0">
                                  <a:latin typeface="Cambria Math" panose="02040503050406030204" pitchFamily="18" charset="0"/>
                                  <a:ea typeface="Cambria Math" panose="02040503050406030204" pitchFamily="18" charset="0"/>
                                </a:rPr>
                              </m:ctrlPr>
                            </m:dPr>
                            <m:e>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𝑖</m:t>
                                  </m:r>
                                </m:sub>
                              </m:sSub>
                            </m:e>
                          </m:d>
                        </m:e>
                      </m:nary>
                    </m:oMath>
                  </m:oMathPara>
                </a14:m>
                <a:endParaRPr lang="en-US" dirty="0" smtClean="0"/>
              </a:p>
              <a:p>
                <a:r>
                  <a:rPr lang="en-US" dirty="0"/>
                  <a:t>Each path consists of:</a:t>
                </a:r>
              </a:p>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𝑉</m:t>
                        </m:r>
                      </m:e>
                      <m:sub>
                        <m:r>
                          <a:rPr lang="en-US" i="1">
                            <a:latin typeface="Cambria Math" panose="02040503050406030204" pitchFamily="18" charset="0"/>
                            <a:ea typeface="Cambria Math" panose="02040503050406030204" pitchFamily="18" charset="0"/>
                          </a:rPr>
                          <m:t>𝑃</m:t>
                        </m:r>
                      </m:sub>
                    </m:sSub>
                  </m:oMath>
                </a14:m>
                <a:r>
                  <a:rPr lang="en-US" dirty="0"/>
                  <a:t>: set of nodes in the path</a:t>
                </a:r>
              </a:p>
              <a:p>
                <a14:m>
                  <m:oMath xmlns:m="http://schemas.openxmlformats.org/officeDocument/2006/math">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ℰ</m:t>
                        </m:r>
                      </m:e>
                      <m:sub>
                        <m:r>
                          <a:rPr lang="en-US" i="1">
                            <a:latin typeface="Cambria Math" panose="02040503050406030204" pitchFamily="18" charset="0"/>
                            <a:ea typeface="Cambria Math" panose="02040503050406030204" pitchFamily="18" charset="0"/>
                          </a:rPr>
                          <m:t>𝑃</m:t>
                        </m:r>
                      </m:sub>
                    </m:sSub>
                  </m:oMath>
                </a14:m>
                <a:r>
                  <a:rPr lang="en-US" dirty="0"/>
                  <a:t>: set of directed edges in the </a:t>
                </a:r>
                <a:r>
                  <a:rPr lang="en-US" dirty="0" smtClean="0"/>
                  <a:t>path</a:t>
                </a:r>
              </a:p>
              <a:p>
                <a:r>
                  <a:rPr lang="en-US" dirty="0"/>
                  <a:t>Paths passing through higher-resource nodes are considered more reliable.</a:t>
                </a:r>
              </a:p>
              <a:p>
                <a:endParaRPr lang="en-US" dirty="0"/>
              </a:p>
              <a:p>
                <a:pPr marL="0" indent="0">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2" y="1318437"/>
                <a:ext cx="9905999" cy="4678326"/>
              </a:xfrm>
              <a:blipFill>
                <a:blip r:embed="rId3"/>
                <a:stretch>
                  <a:fillRect l="-1231" t="-1693"/>
                </a:stretch>
              </a:blipFill>
            </p:spPr>
            <p:txBody>
              <a:bodyPr/>
              <a:lstStyle/>
              <a:p>
                <a:r>
                  <a:rPr lang="en-US">
                    <a:noFill/>
                  </a:rPr>
                  <a:t> </a:t>
                </a:r>
              </a:p>
            </p:txBody>
          </p:sp>
        </mc:Fallback>
      </mc:AlternateContent>
    </p:spTree>
    <p:extLst>
      <p:ext uri="{BB962C8B-B14F-4D97-AF65-F5344CB8AC3E}">
        <p14:creationId xmlns:p14="http://schemas.microsoft.com/office/powerpoint/2010/main" val="3580410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cap="none" dirty="0">
                <a:solidFill>
                  <a:srgbClr val="9900CC"/>
                </a:solidFill>
              </a:rPr>
              <a:t>T</a:t>
            </a:r>
            <a:r>
              <a:rPr lang="en-US" cap="none" dirty="0" smtClean="0">
                <a:solidFill>
                  <a:srgbClr val="9900CC"/>
                </a:solidFill>
              </a:rPr>
              <a:t>extual relational path construction</a:t>
            </a:r>
            <a:endParaRPr lang="en-US" cap="none" dirty="0">
              <a:solidFill>
                <a:srgbClr val="9900CC"/>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2" y="1360967"/>
                <a:ext cx="9905999" cy="4944140"/>
              </a:xfrm>
            </p:spPr>
            <p:txBody>
              <a:bodyPr>
                <a:noAutofit/>
              </a:bodyPr>
              <a:lstStyle/>
              <a:p>
                <a:r>
                  <a:rPr lang="en-US" sz="2800" dirty="0" smtClean="0"/>
                  <a:t>Each </a:t>
                </a:r>
                <a:r>
                  <a:rPr lang="en-US" sz="2800" dirty="0"/>
                  <a:t>retrieved </a:t>
                </a:r>
                <a:r>
                  <a:rPr lang="en-US" sz="2800" b="1" dirty="0"/>
                  <a:t>relational path</a:t>
                </a:r>
                <a:r>
                  <a:rPr lang="en-US" sz="2800" dirty="0"/>
                  <a:t> is converted into a </a:t>
                </a:r>
                <a:r>
                  <a:rPr lang="en-US" sz="2800" b="1" dirty="0"/>
                  <a:t>textual form</a:t>
                </a:r>
                <a:r>
                  <a:rPr lang="en-US" sz="2800" dirty="0"/>
                  <a:t>.</a:t>
                </a:r>
              </a:p>
              <a:p>
                <a:r>
                  <a:rPr lang="en-US" sz="2800" dirty="0"/>
                  <a:t>This is done by </a:t>
                </a:r>
                <a:r>
                  <a:rPr lang="en-US" sz="2800" b="1" dirty="0"/>
                  <a:t>concatenating textual chunks</a:t>
                </a:r>
                <a:r>
                  <a:rPr lang="en-US" sz="2800" dirty="0"/>
                  <a:t> from:</a:t>
                </a:r>
              </a:p>
              <a:p>
                <a:pPr lvl="1"/>
                <a:r>
                  <a:rPr lang="en-US" sz="2400" dirty="0"/>
                  <a:t>Nodes along the path</a:t>
                </a:r>
              </a:p>
              <a:p>
                <a:pPr lvl="1"/>
                <a:r>
                  <a:rPr lang="en-US" sz="2400" dirty="0"/>
                  <a:t>Edges connecting the </a:t>
                </a:r>
                <a:r>
                  <a:rPr lang="en-US" sz="2400" dirty="0" smtClean="0"/>
                  <a:t>nodes</a:t>
                </a:r>
                <a:endParaRPr lang="en-US" sz="2400" dirty="0"/>
              </a:p>
              <a:p>
                <a:r>
                  <a:rPr lang="en-US" sz="2800" dirty="0"/>
                  <a:t>A textual relational path is defined as</a:t>
                </a:r>
                <a:r>
                  <a:rPr lang="en-US" sz="2800" dirty="0" smtClean="0"/>
                  <a:t>:</a:t>
                </a:r>
              </a:p>
              <a:p>
                <a:pPr marL="457200" lvl="1"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r>
                            <a:rPr lang="en-US" sz="2400" b="0" i="1" smtClean="0">
                              <a:latin typeface="Cambria Math" panose="02040503050406030204" pitchFamily="18" charset="0"/>
                            </a:rPr>
                            <m:t>𝑃</m:t>
                          </m:r>
                        </m:sub>
                      </m:sSub>
                      <m:r>
                        <a:rPr lang="en-US" sz="2400" b="0" i="1" smtClean="0">
                          <a:latin typeface="Cambria Math" panose="02040503050406030204" pitchFamily="18" charset="0"/>
                        </a:rPr>
                        <m:t>=</m:t>
                      </m:r>
                      <m:r>
                        <a:rPr lang="en-US" sz="2400" b="0" i="1" smtClean="0">
                          <a:latin typeface="Cambria Math" panose="02040503050406030204" pitchFamily="18" charset="0"/>
                        </a:rPr>
                        <m:t>𝑐𝑜𝑛𝑐𝑎𝑡</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𝑒</m:t>
                                  </m:r>
                                </m:e>
                                <m:sub>
                                  <m:r>
                                    <a:rPr lang="en-US" sz="2400" b="0" i="1" smtClean="0">
                                      <a:latin typeface="Cambria Math" panose="02040503050406030204" pitchFamily="18" charset="0"/>
                                    </a:rPr>
                                    <m:t>𝑖</m:t>
                                  </m:r>
                                </m:sub>
                              </m:sSub>
                            </m:sub>
                          </m:sSub>
                          <m:r>
                            <a:rPr lang="en-US" sz="2400" b="0" i="1" smtClean="0">
                              <a:latin typeface="Cambria Math" panose="02040503050406030204" pitchFamily="18" charset="0"/>
                            </a:rPr>
                            <m:t> ;</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r>
                                    <a:rPr lang="en-US" sz="2400" b="0" i="1" smtClean="0">
                                      <a:latin typeface="Cambria Math" panose="02040503050406030204" pitchFamily="18" charset="0"/>
                                    </a:rPr>
                                    <m:t>+</m:t>
                                  </m:r>
                                  <m:r>
                                    <a:rPr lang="en-US" sz="2400" b="0" i="1" smtClean="0">
                                      <a:latin typeface="Cambria Math" panose="02040503050406030204" pitchFamily="18" charset="0"/>
                                    </a:rPr>
                                    <m:t>1</m:t>
                                  </m:r>
                                </m:sub>
                              </m:sSub>
                            </m:sub>
                          </m:sSub>
                          <m:r>
                            <a:rPr lang="en-US" sz="2400" b="0" i="1" smtClean="0">
                              <a:latin typeface="Cambria Math" panose="02040503050406030204" pitchFamily="18" charset="0"/>
                            </a:rPr>
                            <m:t> ;…</m:t>
                          </m:r>
                        </m:e>
                      </m:d>
                    </m:oMath>
                  </m:oMathPara>
                </a14:m>
                <a:endParaRPr lang="en-US" sz="2400" b="0" dirty="0" smtClean="0"/>
              </a:p>
              <a:p>
                <a:r>
                  <a:rPr lang="en-US" sz="2800" dirty="0"/>
                  <a:t>Where:</a:t>
                </a:r>
              </a:p>
              <a:p>
                <a:pPr lvl="1"/>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𝑡</m:t>
                        </m:r>
                      </m:e>
                      <m: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sub>
                    </m:sSub>
                    <m:r>
                      <a:rPr lang="en-US" sz="2400" b="0" i="1" smtClean="0">
                        <a:latin typeface="Cambria Math" panose="02040503050406030204" pitchFamily="18" charset="0"/>
                      </a:rPr>
                      <m:t>≔ </m:t>
                    </m:r>
                  </m:oMath>
                </a14:m>
                <a:r>
                  <a:rPr lang="en-US" sz="2400" dirty="0" smtClean="0"/>
                  <a:t>text </a:t>
                </a:r>
                <a:r>
                  <a:rPr lang="en-US" sz="2400" dirty="0"/>
                  <a:t>associated with node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𝑖</m:t>
                        </m:r>
                      </m:sub>
                    </m:sSub>
                  </m:oMath>
                </a14:m>
                <a:endParaRPr lang="en-US" sz="2400" b="1" dirty="0" smtClean="0"/>
              </a:p>
              <a:p>
                <a:pPr lvl="1"/>
                <a14:m>
                  <m:oMath xmlns:m="http://schemas.openxmlformats.org/officeDocument/2006/math">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𝒕</m:t>
                        </m:r>
                      </m:e>
                      <m:sub>
                        <m:sSub>
                          <m:sSubPr>
                            <m:ctrlPr>
                              <a:rPr lang="en-US" sz="2400" b="1" i="1" smtClean="0">
                                <a:latin typeface="Cambria Math" panose="02040503050406030204" pitchFamily="18" charset="0"/>
                              </a:rPr>
                            </m:ctrlPr>
                          </m:sSubPr>
                          <m:e>
                            <m:r>
                              <a:rPr lang="en-US" sz="2400" b="1" i="1" smtClean="0">
                                <a:latin typeface="Cambria Math" panose="02040503050406030204" pitchFamily="18" charset="0"/>
                              </a:rPr>
                              <m:t>𝒆</m:t>
                            </m:r>
                          </m:e>
                          <m:sub>
                            <m:r>
                              <a:rPr lang="en-US" sz="2400" b="1" i="1" smtClean="0">
                                <a:latin typeface="Cambria Math" panose="02040503050406030204" pitchFamily="18" charset="0"/>
                              </a:rPr>
                              <m:t>𝒊</m:t>
                            </m:r>
                          </m:sub>
                        </m:sSub>
                      </m:sub>
                    </m:sSub>
                  </m:oMath>
                </a14:m>
                <a:r>
                  <a:rPr lang="en-US" sz="2400" b="1" dirty="0" smtClean="0"/>
                  <a:t>​​</a:t>
                </a:r>
                <a:r>
                  <a:rPr lang="en-US" sz="2400" dirty="0" smtClean="0"/>
                  <a:t>:=  </a:t>
                </a:r>
                <a:r>
                  <a:rPr lang="en-US" sz="2400" dirty="0"/>
                  <a:t>text describing </a:t>
                </a:r>
                <a:r>
                  <a:rPr lang="en-US" sz="2400" dirty="0" smtClean="0"/>
                  <a:t>edge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𝑒</m:t>
                        </m:r>
                      </m:e>
                      <m:sub>
                        <m:r>
                          <a:rPr lang="en-US" sz="2400" b="0" i="1" smtClean="0">
                            <a:latin typeface="Cambria Math" panose="02040503050406030204" pitchFamily="18" charset="0"/>
                          </a:rPr>
                          <m:t>𝑖</m:t>
                        </m:r>
                      </m:sub>
                    </m:sSub>
                  </m:oMath>
                </a14:m>
                <a:endParaRPr lang="en-US" sz="24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2" y="1360967"/>
                <a:ext cx="9905999" cy="4944140"/>
              </a:xfrm>
              <a:blipFill>
                <a:blip r:embed="rId3"/>
                <a:stretch>
                  <a:fillRect l="-1600" t="-1973" b="-6165"/>
                </a:stretch>
              </a:blipFill>
            </p:spPr>
            <p:txBody>
              <a:bodyPr/>
              <a:lstStyle/>
              <a:p>
                <a:r>
                  <a:rPr lang="en-US">
                    <a:noFill/>
                  </a:rPr>
                  <a:t> </a:t>
                </a:r>
              </a:p>
            </p:txBody>
          </p:sp>
        </mc:Fallback>
      </mc:AlternateContent>
    </p:spTree>
    <p:extLst>
      <p:ext uri="{BB962C8B-B14F-4D97-AF65-F5344CB8AC3E}">
        <p14:creationId xmlns:p14="http://schemas.microsoft.com/office/powerpoint/2010/main" val="20781955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52044" y="457201"/>
                <a:ext cx="9905999" cy="5582092"/>
              </a:xfrm>
            </p:spPr>
            <p:txBody>
              <a:bodyPr>
                <a:noAutofit/>
              </a:bodyPr>
              <a:lstStyle/>
              <a:p>
                <a:r>
                  <a:rPr lang="en-US" sz="2600" dirty="0" smtClean="0"/>
                  <a:t>LLMs </a:t>
                </a:r>
                <a:r>
                  <a:rPr lang="en-US" sz="2600" dirty="0"/>
                  <a:t>tend to focus more on information at the </a:t>
                </a:r>
                <a:r>
                  <a:rPr lang="en-US" sz="2600" b="1" dirty="0"/>
                  <a:t>beginning and end</a:t>
                </a:r>
                <a:r>
                  <a:rPr lang="en-US" sz="2600" dirty="0"/>
                  <a:t> of long prompts.</a:t>
                </a:r>
              </a:p>
              <a:p>
                <a:r>
                  <a:rPr lang="en-US" sz="2600" dirty="0"/>
                  <a:t>These positions are treated as the </a:t>
                </a:r>
                <a:r>
                  <a:rPr lang="en-US" sz="2600" b="1" dirty="0"/>
                  <a:t>“golden memory region”</a:t>
                </a:r>
                <a:r>
                  <a:rPr lang="en-US" sz="2600" dirty="0"/>
                  <a:t> for model comprehension.</a:t>
                </a:r>
              </a:p>
              <a:p>
                <a:r>
                  <a:rPr lang="en-US" sz="2600" dirty="0"/>
                  <a:t>Prompt structure is explicitly designed to exploit this behavior</a:t>
                </a:r>
                <a:r>
                  <a:rPr lang="en-US" sz="2600" dirty="0" smtClean="0"/>
                  <a:t>.</a:t>
                </a:r>
              </a:p>
              <a:p>
                <a:r>
                  <a:rPr lang="en-US" sz="2600" dirty="0"/>
                  <a:t>The </a:t>
                </a:r>
                <a:r>
                  <a:rPr lang="en-US" sz="2600" b="1" dirty="0"/>
                  <a:t>query</a:t>
                </a:r>
                <a:r>
                  <a:rPr lang="en-US" sz="2600" dirty="0"/>
                  <a:t> is placed at the </a:t>
                </a:r>
                <a:r>
                  <a:rPr lang="en-US" sz="2600" b="1" dirty="0"/>
                  <a:t>beginning</a:t>
                </a:r>
                <a:r>
                  <a:rPr lang="en-US" sz="2600" dirty="0"/>
                  <a:t> of the prompt</a:t>
                </a:r>
                <a:r>
                  <a:rPr lang="en-US" sz="2600" dirty="0" smtClean="0"/>
                  <a:t>.</a:t>
                </a:r>
              </a:p>
              <a:p>
                <a:r>
                  <a:rPr lang="en-US" sz="2600" dirty="0"/>
                  <a:t>Retrieved </a:t>
                </a:r>
                <a:r>
                  <a:rPr lang="en-US" sz="2600" b="1" dirty="0"/>
                  <a:t>textual relational paths</a:t>
                </a:r>
                <a:r>
                  <a:rPr lang="en-US" sz="2600" dirty="0"/>
                  <a:t> are sorted by </a:t>
                </a:r>
                <a:r>
                  <a:rPr lang="en-US" sz="2600" b="1" dirty="0"/>
                  <a:t>reliability</a:t>
                </a:r>
                <a:r>
                  <a:rPr lang="en-US" sz="2600" dirty="0" smtClean="0"/>
                  <a:t>.</a:t>
                </a:r>
              </a:p>
              <a:p>
                <a:r>
                  <a:rPr lang="en-US" sz="2800" dirty="0"/>
                  <a:t>The final prompt is defined as:</a:t>
                </a:r>
              </a:p>
              <a:p>
                <a:pPr marL="457200" lvl="1" indent="0">
                  <a:buNone/>
                </a:pPr>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rPr>
                        <m:t>𝑀</m:t>
                      </m:r>
                      <m:r>
                        <a:rPr lang="en-US" sz="2400" i="1" dirty="0">
                          <a:latin typeface="Cambria Math" panose="02040503050406030204" pitchFamily="18" charset="0"/>
                        </a:rPr>
                        <m:t>(</m:t>
                      </m:r>
                      <m:r>
                        <a:rPr lang="en-US" sz="2400" i="1" dirty="0" err="1">
                          <a:latin typeface="Cambria Math" panose="02040503050406030204" pitchFamily="18" charset="0"/>
                        </a:rPr>
                        <m:t>𝑞</m:t>
                      </m:r>
                      <m:r>
                        <a:rPr lang="en-US" sz="2400" i="1" dirty="0" err="1">
                          <a:latin typeface="Cambria Math" panose="02040503050406030204" pitchFamily="18" charset="0"/>
                        </a:rPr>
                        <m:t>;</m:t>
                      </m:r>
                      <m:r>
                        <a:rPr lang="en-US" sz="2400" i="1" dirty="0" err="1">
                          <a:latin typeface="Cambria Math" panose="02040503050406030204" pitchFamily="18" charset="0"/>
                        </a:rPr>
                        <m:t>𝑅</m:t>
                      </m:r>
                      <m:r>
                        <a:rPr lang="en-US" sz="2400" i="1" dirty="0">
                          <a:latin typeface="Cambria Math" panose="02040503050406030204" pitchFamily="18" charset="0"/>
                        </a:rPr>
                        <m:t>(</m:t>
                      </m:r>
                      <m:r>
                        <a:rPr lang="en-US" sz="2400" i="1" dirty="0">
                          <a:latin typeface="Cambria Math" panose="02040503050406030204" pitchFamily="18" charset="0"/>
                        </a:rPr>
                        <m:t>𝑞</m:t>
                      </m:r>
                      <m:r>
                        <a:rPr lang="en-US" sz="2400" i="1" dirty="0">
                          <a:latin typeface="Cambria Math" panose="02040503050406030204" pitchFamily="18" charset="0"/>
                        </a:rPr>
                        <m:t>, </m:t>
                      </m:r>
                      <m:r>
                        <a:rPr lang="en-US" sz="2400" i="1" dirty="0">
                          <a:latin typeface="Cambria Math" panose="02040503050406030204" pitchFamily="18" charset="0"/>
                        </a:rPr>
                        <m:t>𝐺</m:t>
                      </m:r>
                      <m:r>
                        <a:rPr lang="en-US" sz="2400" i="1" dirty="0">
                          <a:latin typeface="Cambria Math" panose="02040503050406030204" pitchFamily="18" charset="0"/>
                        </a:rPr>
                        <m:t>) ) := </m:t>
                      </m:r>
                      <m:r>
                        <a:rPr lang="en-US" sz="2400" i="1" dirty="0" err="1">
                          <a:latin typeface="Cambria Math" panose="02040503050406030204" pitchFamily="18" charset="0"/>
                        </a:rPr>
                        <m:t>𝑐𝑜𝑛𝑐𝑎𝑡</m:t>
                      </m:r>
                      <m:r>
                        <a:rPr lang="en-US" sz="2400" i="1" dirty="0">
                          <a:latin typeface="Cambria Math" panose="02040503050406030204" pitchFamily="18" charset="0"/>
                        </a:rPr>
                        <m:t>([</m:t>
                      </m:r>
                      <m:r>
                        <a:rPr lang="en-US" sz="2400" i="1" dirty="0">
                          <a:latin typeface="Cambria Math" panose="02040503050406030204" pitchFamily="18" charset="0"/>
                        </a:rPr>
                        <m:t>𝑞</m:t>
                      </m:r>
                      <m:r>
                        <a:rPr lang="en-US" sz="2400" i="1" dirty="0">
                          <a:latin typeface="Cambria Math" panose="02040503050406030204" pitchFamily="18" charset="0"/>
                        </a:rPr>
                        <m:t>; </m:t>
                      </m:r>
                      <m:sSub>
                        <m:sSubPr>
                          <m:ctrlPr>
                            <a:rPr lang="en-US" sz="2400" i="1" dirty="0" err="1">
                              <a:latin typeface="Cambria Math" panose="02040503050406030204" pitchFamily="18" charset="0"/>
                            </a:rPr>
                          </m:ctrlPr>
                        </m:sSubPr>
                        <m:e>
                          <m:r>
                            <a:rPr lang="en-US" sz="2400" i="1" dirty="0" err="1">
                              <a:latin typeface="Cambria Math" panose="02040503050406030204" pitchFamily="18" charset="0"/>
                            </a:rPr>
                            <m:t>𝑡</m:t>
                          </m:r>
                        </m:e>
                        <m:sub>
                          <m:sSub>
                            <m:sSubPr>
                              <m:ctrlPr>
                                <a:rPr lang="en-US" sz="2400" i="1" dirty="0" err="1">
                                  <a:latin typeface="Cambria Math" panose="02040503050406030204" pitchFamily="18" charset="0"/>
                                </a:rPr>
                              </m:ctrlPr>
                            </m:sSubPr>
                            <m:e>
                              <m:r>
                                <a:rPr lang="en-US" sz="2400" i="1" dirty="0" err="1">
                                  <a:latin typeface="Cambria Math" panose="02040503050406030204" pitchFamily="18" charset="0"/>
                                </a:rPr>
                                <m:t>𝑃</m:t>
                              </m:r>
                            </m:e>
                            <m:sub>
                              <m:r>
                                <a:rPr lang="en-US" sz="2400" i="1" dirty="0" err="1">
                                  <a:latin typeface="Cambria Math" panose="02040503050406030204" pitchFamily="18" charset="0"/>
                                </a:rPr>
                                <m:t>𝑘</m:t>
                              </m:r>
                            </m:sub>
                          </m:sSub>
                        </m:sub>
                      </m:sSub>
                      <m:r>
                        <a:rPr lang="en-US" sz="2400" i="1" dirty="0">
                          <a:latin typeface="Cambria Math" panose="02040503050406030204" pitchFamily="18" charset="0"/>
                        </a:rPr>
                        <m:t>; … ;</m:t>
                      </m:r>
                      <m:sSub>
                        <m:sSubPr>
                          <m:ctrlPr>
                            <a:rPr lang="en-US" sz="2400" i="1" dirty="0">
                              <a:latin typeface="Cambria Math" panose="02040503050406030204" pitchFamily="18" charset="0"/>
                            </a:rPr>
                          </m:ctrlPr>
                        </m:sSubPr>
                        <m:e>
                          <m:r>
                            <a:rPr lang="en-US" sz="2400" i="1" dirty="0">
                              <a:latin typeface="Cambria Math" panose="02040503050406030204" pitchFamily="18" charset="0"/>
                            </a:rPr>
                            <m:t>𝑡</m:t>
                          </m:r>
                        </m:e>
                        <m:sub>
                          <m:sSub>
                            <m:sSubPr>
                              <m:ctrlPr>
                                <a:rPr lang="en-US" sz="2400" i="1" dirty="0">
                                  <a:latin typeface="Cambria Math" panose="02040503050406030204" pitchFamily="18" charset="0"/>
                                </a:rPr>
                              </m:ctrlPr>
                            </m:sSubPr>
                            <m:e>
                              <m:r>
                                <a:rPr lang="en-US" sz="2400" i="1" dirty="0">
                                  <a:latin typeface="Cambria Math" panose="02040503050406030204" pitchFamily="18" charset="0"/>
                                </a:rPr>
                                <m:t>𝑃</m:t>
                              </m:r>
                            </m:e>
                            <m:sub>
                              <m:r>
                                <a:rPr lang="en-US" sz="2400" i="1" dirty="0">
                                  <a:latin typeface="Cambria Math" panose="02040503050406030204" pitchFamily="18" charset="0"/>
                                </a:rPr>
                                <m:t>1</m:t>
                              </m:r>
                            </m:sub>
                          </m:sSub>
                        </m:sub>
                      </m:sSub>
                      <m:r>
                        <a:rPr lang="en-US" sz="2400" i="1" dirty="0">
                          <a:latin typeface="Cambria Math" panose="02040503050406030204" pitchFamily="18" charset="0"/>
                        </a:rPr>
                        <m:t>])</m:t>
                      </m:r>
                    </m:oMath>
                  </m:oMathPara>
                </a14:m>
                <a:endParaRPr lang="en-US" sz="2400" dirty="0"/>
              </a:p>
              <a:p>
                <a:endParaRPr lang="en-US" sz="2600" dirty="0" smtClean="0"/>
              </a:p>
              <a:p>
                <a:endParaRPr lang="en-US" sz="26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52044" y="457201"/>
                <a:ext cx="9905999" cy="5582092"/>
              </a:xfrm>
              <a:blipFill>
                <a:blip r:embed="rId3"/>
                <a:stretch>
                  <a:fillRect l="-1600" t="-1638" r="-738"/>
                </a:stretch>
              </a:blipFill>
            </p:spPr>
            <p:txBody>
              <a:bodyPr/>
              <a:lstStyle/>
              <a:p>
                <a:r>
                  <a:rPr lang="en-US">
                    <a:noFill/>
                  </a:rPr>
                  <a:t> </a:t>
                </a:r>
              </a:p>
            </p:txBody>
          </p:sp>
        </mc:Fallback>
      </mc:AlternateContent>
    </p:spTree>
    <p:extLst>
      <p:ext uri="{BB962C8B-B14F-4D97-AF65-F5344CB8AC3E}">
        <p14:creationId xmlns:p14="http://schemas.microsoft.com/office/powerpoint/2010/main" val="682601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3" y="0"/>
            <a:ext cx="9905998" cy="1478570"/>
          </a:xfrm>
        </p:spPr>
        <p:txBody>
          <a:bodyPr/>
          <a:lstStyle/>
          <a:p>
            <a:r>
              <a:rPr lang="en-US" b="1" cap="none" dirty="0" smtClean="0">
                <a:solidFill>
                  <a:srgbClr val="9900CC"/>
                </a:solidFill>
              </a:rPr>
              <a:t>complexity analysis – node propagation</a:t>
            </a:r>
            <a:endParaRPr lang="en-US" cap="none" dirty="0">
              <a:solidFill>
                <a:srgbClr val="9900CC"/>
              </a:solidFill>
            </a:endParaRP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141412" y="1222743"/>
                <a:ext cx="9905999" cy="5454503"/>
              </a:xfrm>
            </p:spPr>
            <p:txBody>
              <a:bodyPr>
                <a:normAutofit/>
              </a:bodyPr>
              <a:lstStyle/>
              <a:p>
                <a:r>
                  <a:rPr lang="en-US" dirty="0" smtClean="0"/>
                  <a:t>Due </a:t>
                </a:r>
                <a:r>
                  <a:rPr lang="en-US" dirty="0"/>
                  <a:t>to </a:t>
                </a:r>
                <a:r>
                  <a:rPr lang="en-US" b="1" dirty="0"/>
                  <a:t>decay penalty</a:t>
                </a:r>
                <a:r>
                  <a:rPr lang="en-US" dirty="0"/>
                  <a:t> and </a:t>
                </a:r>
                <a:r>
                  <a:rPr lang="en-US" b="1" dirty="0"/>
                  <a:t>early stopping</a:t>
                </a:r>
                <a:r>
                  <a:rPr lang="en-US" dirty="0"/>
                  <a:t>, the number of active nodes after step </a:t>
                </a:r>
                <a:r>
                  <a:rPr lang="en-US" dirty="0" err="1" smtClean="0"/>
                  <a:t>i</a:t>
                </a:r>
                <a:r>
                  <a:rPr lang="en-US" dirty="0" smtClean="0"/>
                  <a:t> is </a:t>
                </a:r>
                <a:r>
                  <a:rPr lang="en-US" dirty="0"/>
                  <a:t>at most</a:t>
                </a:r>
                <a:r>
                  <a:rPr lang="en-US" dirty="0" smtClean="0"/>
                  <a:t>:</a:t>
                </a:r>
              </a:p>
              <a:p>
                <a:pPr marL="0" indent="0">
                  <a:buNone/>
                </a:pPr>
                <a14:m>
                  <m:oMathPara xmlns:m="http://schemas.openxmlformats.org/officeDocument/2006/math">
                    <m:oMathParaPr>
                      <m:jc m:val="centerGroup"/>
                    </m:oMathParaPr>
                    <m:oMath xmlns:m="http://schemas.openxmlformats.org/officeDocument/2006/math">
                      <m:f>
                        <m:fPr>
                          <m:ctrlPr>
                            <a:rPr lang="en-US" b="0" i="1" smtClean="0">
                              <a:latin typeface="Cambria Math" panose="02040503050406030204" pitchFamily="18" charset="0"/>
                              <a:ea typeface="Cambria Math" panose="02040503050406030204" pitchFamily="18" charset="0"/>
                            </a:rPr>
                          </m:ctrlPr>
                        </m:fPr>
                        <m:num>
                          <m:sSup>
                            <m:sSupPr>
                              <m:ctrlPr>
                                <a:rPr lang="en-US" b="0" i="1" smtClean="0">
                                  <a:latin typeface="Cambria Math" panose="02040503050406030204" pitchFamily="18" charset="0"/>
                                  <a:ea typeface="Cambria Math" panose="02040503050406030204" pitchFamily="18" charset="0"/>
                                </a:rPr>
                              </m:ctrlPr>
                            </m:sSupPr>
                            <m:e>
                              <m:r>
                                <a:rPr lang="en-US" i="1" smtClean="0">
                                  <a:latin typeface="Cambria Math" panose="02040503050406030204" pitchFamily="18" charset="0"/>
                                  <a:ea typeface="Cambria Math" panose="02040503050406030204" pitchFamily="18" charset="0"/>
                                </a:rPr>
                                <m:t>𝛼</m:t>
                              </m:r>
                            </m:e>
                            <m:sup>
                              <m:r>
                                <a:rPr lang="en-US" b="0" i="1" smtClean="0">
                                  <a:latin typeface="Cambria Math" panose="02040503050406030204" pitchFamily="18" charset="0"/>
                                  <a:ea typeface="Cambria Math" panose="02040503050406030204" pitchFamily="18" charset="0"/>
                                </a:rPr>
                                <m:t>𝑖</m:t>
                              </m:r>
                            </m:sup>
                          </m:sSup>
                        </m:num>
                        <m:den>
                          <m:r>
                            <a:rPr lang="en-US" b="0" i="1" smtClean="0">
                              <a:latin typeface="Cambria Math" panose="02040503050406030204" pitchFamily="18" charset="0"/>
                              <a:ea typeface="Cambria Math" panose="02040503050406030204" pitchFamily="18" charset="0"/>
                            </a:rPr>
                            <m:t>𝜃</m:t>
                          </m:r>
                        </m:den>
                      </m:f>
                    </m:oMath>
                  </m:oMathPara>
                </a14:m>
                <a:endParaRPr lang="en-US" dirty="0" smtClean="0"/>
              </a:p>
              <a:p>
                <a:r>
                  <a:rPr lang="en-US" dirty="0"/>
                  <a:t>Total nodes involved in </a:t>
                </a:r>
                <a:r>
                  <a:rPr lang="en-US" dirty="0" smtClean="0"/>
                  <a:t>propagation:</a:t>
                </a:r>
              </a:p>
              <a:p>
                <a:pPr marL="457200" lvl="1" indent="0">
                  <a:buNone/>
                </a:pPr>
                <a14:m>
                  <m:oMathPara xmlns:m="http://schemas.openxmlformats.org/officeDocument/2006/math">
                    <m:oMathParaPr>
                      <m:jc m:val="centerGroup"/>
                    </m:oMathParaPr>
                    <m:oMath xmlns:m="http://schemas.openxmlformats.org/officeDocument/2006/math">
                      <m:nary>
                        <m:naryPr>
                          <m:chr m:val="∑"/>
                          <m:ctrlPr>
                            <a:rPr lang="en-US" i="1" smtClean="0">
                              <a:latin typeface="Cambria Math" panose="02040503050406030204" pitchFamily="18" charset="0"/>
                            </a:rPr>
                          </m:ctrlPr>
                        </m:naryPr>
                        <m:sub>
                          <m:r>
                            <m:rPr>
                              <m:brk m:alnAt="23"/>
                            </m:rPr>
                            <a:rPr lang="en-US" b="0" i="1" smtClean="0">
                              <a:latin typeface="Cambria Math" panose="02040503050406030204" pitchFamily="18" charset="0"/>
                            </a:rPr>
                            <m:t>𝑖</m:t>
                          </m:r>
                          <m:r>
                            <a:rPr lang="en-US" b="0" i="1" smtClean="0">
                              <a:latin typeface="Cambria Math" panose="02040503050406030204" pitchFamily="18" charset="0"/>
                            </a:rPr>
                            <m:t>=</m:t>
                          </m:r>
                          <m:r>
                            <m:rPr>
                              <m:brk m:alnAt="23"/>
                            </m:rPr>
                            <a:rPr lang="en-US" b="0" i="1" smtClean="0">
                              <a:latin typeface="Cambria Math" panose="02040503050406030204" pitchFamily="18" charset="0"/>
                            </a:rPr>
                            <m:t>0</m:t>
                          </m:r>
                        </m:sub>
                        <m:sup>
                          <m:r>
                            <a:rPr lang="en-US" i="1" smtClean="0">
                              <a:latin typeface="Cambria Math" panose="02040503050406030204" pitchFamily="18" charset="0"/>
                              <a:ea typeface="Cambria Math" panose="02040503050406030204" pitchFamily="18" charset="0"/>
                            </a:rPr>
                            <m:t>∞</m:t>
                          </m:r>
                        </m:sup>
                        <m:e>
                          <m:f>
                            <m:fPr>
                              <m:ctrlPr>
                                <a:rPr lang="en-US" i="1">
                                  <a:latin typeface="Cambria Math" panose="02040503050406030204" pitchFamily="18" charset="0"/>
                                  <a:ea typeface="Cambria Math" panose="02040503050406030204" pitchFamily="18" charset="0"/>
                                </a:rPr>
                              </m:ctrlPr>
                            </m:fPr>
                            <m:num>
                              <m:sSup>
                                <m:sSupPr>
                                  <m:ctrlPr>
                                    <a:rPr lang="en-US" i="1">
                                      <a:latin typeface="Cambria Math" panose="02040503050406030204" pitchFamily="18" charset="0"/>
                                      <a:ea typeface="Cambria Math" panose="02040503050406030204" pitchFamily="18" charset="0"/>
                                    </a:rPr>
                                  </m:ctrlPr>
                                </m:sSupPr>
                                <m:e>
                                  <m:r>
                                    <a:rPr lang="en-US" i="1">
                                      <a:latin typeface="Cambria Math" panose="02040503050406030204" pitchFamily="18" charset="0"/>
                                      <a:ea typeface="Cambria Math" panose="02040503050406030204" pitchFamily="18" charset="0"/>
                                    </a:rPr>
                                    <m:t>𝛼</m:t>
                                  </m:r>
                                </m:e>
                                <m:sup>
                                  <m:r>
                                    <a:rPr lang="en-US" i="1">
                                      <a:latin typeface="Cambria Math" panose="02040503050406030204" pitchFamily="18" charset="0"/>
                                      <a:ea typeface="Cambria Math" panose="02040503050406030204" pitchFamily="18" charset="0"/>
                                    </a:rPr>
                                    <m:t>𝑖</m:t>
                                  </m:r>
                                </m:sup>
                              </m:sSup>
                            </m:num>
                            <m:den>
                              <m:r>
                                <a:rPr lang="en-US" i="1">
                                  <a:latin typeface="Cambria Math" panose="02040503050406030204" pitchFamily="18" charset="0"/>
                                  <a:ea typeface="Cambria Math" panose="02040503050406030204" pitchFamily="18" charset="0"/>
                                </a:rPr>
                                <m:t>𝜃</m:t>
                              </m:r>
                            </m:den>
                          </m:f>
                        </m:e>
                      </m:nary>
                      <m:r>
                        <a:rPr lang="en-US" b="0" i="1" smtClean="0">
                          <a:latin typeface="Cambria Math" panose="02040503050406030204" pitchFamily="18" charset="0"/>
                        </a:rPr>
                        <m:t>=</m:t>
                      </m:r>
                      <m:f>
                        <m:fPr>
                          <m:ctrlPr>
                            <a:rPr lang="en-US" i="1">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1</m:t>
                          </m:r>
                        </m:num>
                        <m:den>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1</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𝜃</m:t>
                          </m:r>
                        </m:den>
                      </m:f>
                    </m:oMath>
                  </m:oMathPara>
                </a14:m>
                <a:endParaRPr lang="en-US" dirty="0" smtClean="0">
                  <a:ea typeface="Cambria Math" panose="02040503050406030204" pitchFamily="18" charset="0"/>
                </a:endParaRPr>
              </a:p>
              <a:p>
                <a:pPr marL="457200" lvl="1" indent="0">
                  <a:buNone/>
                </a:pPr>
                <a:endParaRPr lang="en-US" dirty="0" smtClean="0"/>
              </a:p>
              <a:p>
                <a:r>
                  <a:rPr lang="en-US" dirty="0"/>
                  <a:t>Extracting candidate paths between all node pairs has complexity</a:t>
                </a:r>
                <a:r>
                  <a:rPr lang="en-US" dirty="0" smtClean="0"/>
                  <a:t>:</a:t>
                </a:r>
              </a:p>
              <a:p>
                <a:pPr marL="0" indent="0">
                  <a:buNone/>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f>
                        <m:fPr>
                          <m:ctrlPr>
                            <a:rPr lang="en-US" b="0" i="1" smtClean="0">
                              <a:latin typeface="Cambria Math" panose="02040503050406030204" pitchFamily="18" charset="0"/>
                            </a:rPr>
                          </m:ctrlPr>
                        </m:fPr>
                        <m:num>
                          <m:sSup>
                            <m:sSupPr>
                              <m:ctrlPr>
                                <a:rPr lang="en-US" b="0" i="1" smtClean="0">
                                  <a:latin typeface="Cambria Math" panose="02040503050406030204" pitchFamily="18" charset="0"/>
                                </a:rPr>
                              </m:ctrlPr>
                            </m:sSupPr>
                            <m:e>
                              <m:r>
                                <a:rPr lang="en-US" b="0" i="1" smtClean="0">
                                  <a:latin typeface="Cambria Math" panose="02040503050406030204" pitchFamily="18" charset="0"/>
                                </a:rPr>
                                <m:t>𝑁</m:t>
                              </m:r>
                            </m:e>
                            <m:sup>
                              <m:r>
                                <a:rPr lang="en-US" b="0" i="1" smtClean="0">
                                  <a:latin typeface="Cambria Math" panose="02040503050406030204" pitchFamily="18" charset="0"/>
                                </a:rPr>
                                <m:t>2</m:t>
                              </m:r>
                            </m:sup>
                          </m:sSup>
                        </m:num>
                        <m:den>
                          <m:d>
                            <m:dPr>
                              <m:ctrlPr>
                                <a:rPr lang="en-US" b="0" i="1" smtClean="0">
                                  <a:latin typeface="Cambria Math" panose="02040503050406030204" pitchFamily="18" charset="0"/>
                                </a:rPr>
                              </m:ctrlPr>
                            </m:dPr>
                            <m:e>
                              <m:r>
                                <a:rPr lang="en-US" i="1">
                                  <a:latin typeface="Cambria Math" panose="02040503050406030204" pitchFamily="18" charset="0"/>
                                </a:rPr>
                                <m:t>1</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𝛼</m:t>
                              </m:r>
                            </m:e>
                          </m:d>
                          <m:r>
                            <a:rPr lang="en-US" i="1">
                              <a:latin typeface="Cambria Math" panose="02040503050406030204" pitchFamily="18" charset="0"/>
                              <a:ea typeface="Cambria Math" panose="02040503050406030204" pitchFamily="18" charset="0"/>
                            </a:rPr>
                            <m:t>𝜃</m:t>
                          </m:r>
                        </m:den>
                      </m:f>
                      <m:r>
                        <a:rPr lang="en-US" b="0" i="0" smtClean="0">
                          <a:latin typeface="Cambria Math" panose="02040503050406030204" pitchFamily="18" charset="0"/>
                          <a:ea typeface="Cambria Math" panose="02040503050406030204" pitchFamily="18" charset="0"/>
                        </a:rPr>
                        <m:t>)</m:t>
                      </m:r>
                    </m:oMath>
                  </m:oMathPara>
                </a14:m>
                <a:endParaRPr lang="en-US" dirty="0" smtClean="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141412" y="1222743"/>
                <a:ext cx="9905999" cy="5454503"/>
              </a:xfrm>
              <a:blipFill>
                <a:blip r:embed="rId2"/>
                <a:stretch>
                  <a:fillRect l="-1231" t="-1566"/>
                </a:stretch>
              </a:blipFill>
            </p:spPr>
            <p:txBody>
              <a:bodyPr/>
              <a:lstStyle/>
              <a:p>
                <a:r>
                  <a:rPr lang="en-US">
                    <a:noFill/>
                  </a:rPr>
                  <a:t> </a:t>
                </a:r>
              </a:p>
            </p:txBody>
          </p:sp>
        </mc:Fallback>
      </mc:AlternateContent>
    </p:spTree>
    <p:extLst>
      <p:ext uri="{BB962C8B-B14F-4D97-AF65-F5344CB8AC3E}">
        <p14:creationId xmlns:p14="http://schemas.microsoft.com/office/powerpoint/2010/main" val="6786406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1297173"/>
            <a:ext cx="9905999" cy="4738578"/>
          </a:xfrm>
        </p:spPr>
        <p:txBody>
          <a:bodyPr>
            <a:normAutofit/>
          </a:bodyPr>
          <a:lstStyle/>
          <a:p>
            <a:r>
              <a:rPr lang="en-US" dirty="0"/>
              <a:t>Due to the absence of ground truth answers, </a:t>
            </a:r>
            <a:r>
              <a:rPr lang="en-US" dirty="0" smtClean="0"/>
              <a:t>we follow </a:t>
            </a:r>
            <a:r>
              <a:rPr lang="en-US" dirty="0"/>
              <a:t>the LLM-based evaluation </a:t>
            </a:r>
            <a:r>
              <a:rPr lang="en-US" dirty="0" smtClean="0"/>
              <a:t>procedures. we utilize“GPT-4o-mini</a:t>
            </a:r>
            <a:r>
              <a:rPr lang="en-US" dirty="0"/>
              <a:t>” to evaluate the generated </a:t>
            </a:r>
            <a:r>
              <a:rPr lang="en-US" dirty="0" smtClean="0"/>
              <a:t>answers across </a:t>
            </a:r>
            <a:r>
              <a:rPr lang="en-US" dirty="0"/>
              <a:t>multiple dimensions</a:t>
            </a:r>
            <a:r>
              <a:rPr lang="en-US" dirty="0" smtClean="0"/>
              <a:t>.</a:t>
            </a:r>
          </a:p>
          <a:p>
            <a:r>
              <a:rPr lang="en-US" dirty="0"/>
              <a:t>We compare the </a:t>
            </a:r>
            <a:r>
              <a:rPr lang="en-US" dirty="0" smtClean="0"/>
              <a:t>answers generated </a:t>
            </a:r>
            <a:r>
              <a:rPr lang="en-US" dirty="0"/>
              <a:t>by each baseline and our method and </a:t>
            </a:r>
            <a:r>
              <a:rPr lang="en-US" dirty="0" smtClean="0"/>
              <a:t>conduct win-rate </a:t>
            </a:r>
            <a:r>
              <a:rPr lang="en-US" dirty="0"/>
              <a:t>statistics. A higher win rate </a:t>
            </a:r>
            <a:r>
              <a:rPr lang="en-US" dirty="0" smtClean="0"/>
              <a:t>indicates a </a:t>
            </a:r>
            <a:r>
              <a:rPr lang="en-US" dirty="0"/>
              <a:t>greater performance advantage over the other</a:t>
            </a:r>
            <a:r>
              <a:rPr lang="en-US" dirty="0" smtClean="0"/>
              <a:t>.</a:t>
            </a:r>
          </a:p>
          <a:p>
            <a:r>
              <a:rPr lang="en-US" sz="3200" dirty="0" err="1">
                <a:solidFill>
                  <a:srgbClr val="C00000"/>
                </a:solidFill>
              </a:rPr>
              <a:t>PathRAG</a:t>
            </a:r>
            <a:r>
              <a:rPr lang="en-US" sz="3200" dirty="0">
                <a:solidFill>
                  <a:srgbClr val="C00000"/>
                </a:solidFill>
              </a:rPr>
              <a:t> consistently </a:t>
            </a:r>
            <a:r>
              <a:rPr lang="en-US" sz="3200" dirty="0" smtClean="0">
                <a:solidFill>
                  <a:srgbClr val="C00000"/>
                </a:solidFill>
              </a:rPr>
              <a:t>outperforms the </a:t>
            </a:r>
            <a:r>
              <a:rPr lang="en-US" sz="3200" dirty="0">
                <a:solidFill>
                  <a:srgbClr val="C00000"/>
                </a:solidFill>
              </a:rPr>
              <a:t>baselines across all evaluation </a:t>
            </a:r>
            <a:r>
              <a:rPr lang="en-US" sz="3200" dirty="0" smtClean="0">
                <a:solidFill>
                  <a:srgbClr val="C00000"/>
                </a:solidFill>
              </a:rPr>
              <a:t>dimensions and </a:t>
            </a:r>
            <a:r>
              <a:rPr lang="en-US" sz="3200" dirty="0">
                <a:solidFill>
                  <a:srgbClr val="C00000"/>
                </a:solidFill>
              </a:rPr>
              <a:t>datasets.</a:t>
            </a:r>
          </a:p>
        </p:txBody>
      </p:sp>
      <p:sp>
        <p:nvSpPr>
          <p:cNvPr id="4" name="Title 1"/>
          <p:cNvSpPr>
            <a:spLocks noGrp="1"/>
          </p:cNvSpPr>
          <p:nvPr>
            <p:ph type="title"/>
          </p:nvPr>
        </p:nvSpPr>
        <p:spPr>
          <a:xfrm>
            <a:off x="1141413" y="0"/>
            <a:ext cx="9905998" cy="1478570"/>
          </a:xfrm>
        </p:spPr>
        <p:txBody>
          <a:bodyPr/>
          <a:lstStyle/>
          <a:p>
            <a:r>
              <a:rPr lang="en-US" cap="none" dirty="0" smtClean="0">
                <a:solidFill>
                  <a:srgbClr val="FF3399"/>
                </a:solidFill>
              </a:rPr>
              <a:t>Evaluation</a:t>
            </a:r>
            <a:endParaRPr lang="en-US" cap="none" dirty="0">
              <a:solidFill>
                <a:srgbClr val="FF3399"/>
              </a:solidFill>
            </a:endParaRPr>
          </a:p>
        </p:txBody>
      </p:sp>
    </p:spTree>
    <p:extLst>
      <p:ext uri="{BB962C8B-B14F-4D97-AF65-F5344CB8AC3E}">
        <p14:creationId xmlns:p14="http://schemas.microsoft.com/office/powerpoint/2010/main" val="40722219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p:cNvGraphicFramePr>
            <a:graphicFrameLocks noGrp="1"/>
          </p:cNvGraphicFramePr>
          <p:nvPr>
            <p:ph idx="1"/>
            <p:extLst>
              <p:ext uri="{D42A27DB-BD31-4B8C-83A1-F6EECF244321}">
                <p14:modId xmlns:p14="http://schemas.microsoft.com/office/powerpoint/2010/main" val="4253079020"/>
              </p:ext>
            </p:extLst>
          </p:nvPr>
        </p:nvGraphicFramePr>
        <p:xfrm>
          <a:off x="1215841" y="1082330"/>
          <a:ext cx="10239340" cy="792480"/>
        </p:xfrm>
        <a:graphic>
          <a:graphicData uri="http://schemas.openxmlformats.org/drawingml/2006/table">
            <a:tbl>
              <a:tblPr firstRow="1" bandRow="1">
                <a:tableStyleId>{5C22544A-7EE6-4342-B048-85BDC9FD1C3A}</a:tableStyleId>
              </a:tblPr>
              <a:tblGrid>
                <a:gridCol w="2611880">
                  <a:extLst>
                    <a:ext uri="{9D8B030D-6E8A-4147-A177-3AD203B41FA5}">
                      <a16:colId xmlns:a16="http://schemas.microsoft.com/office/drawing/2014/main" val="777494234"/>
                    </a:ext>
                  </a:extLst>
                </a:gridCol>
                <a:gridCol w="1967023">
                  <a:extLst>
                    <a:ext uri="{9D8B030D-6E8A-4147-A177-3AD203B41FA5}">
                      <a16:colId xmlns:a16="http://schemas.microsoft.com/office/drawing/2014/main" val="2480812354"/>
                    </a:ext>
                  </a:extLst>
                </a:gridCol>
                <a:gridCol w="1956391">
                  <a:extLst>
                    <a:ext uri="{9D8B030D-6E8A-4147-A177-3AD203B41FA5}">
                      <a16:colId xmlns:a16="http://schemas.microsoft.com/office/drawing/2014/main" val="4122346768"/>
                    </a:ext>
                  </a:extLst>
                </a:gridCol>
                <a:gridCol w="1998921">
                  <a:extLst>
                    <a:ext uri="{9D8B030D-6E8A-4147-A177-3AD203B41FA5}">
                      <a16:colId xmlns:a16="http://schemas.microsoft.com/office/drawing/2014/main" val="2260693500"/>
                    </a:ext>
                  </a:extLst>
                </a:gridCol>
                <a:gridCol w="1705125">
                  <a:extLst>
                    <a:ext uri="{9D8B030D-6E8A-4147-A177-3AD203B41FA5}">
                      <a16:colId xmlns:a16="http://schemas.microsoft.com/office/drawing/2014/main" val="888327257"/>
                    </a:ext>
                  </a:extLst>
                </a:gridCol>
              </a:tblGrid>
              <a:tr h="370840">
                <a:tc>
                  <a:txBody>
                    <a:bodyPr/>
                    <a:lstStyle/>
                    <a:p>
                      <a:pPr algn="ctr"/>
                      <a:r>
                        <a:rPr lang="en-US" sz="2000" b="0" i="0" u="none" strike="noStrike" kern="1200" baseline="0" dirty="0" smtClean="0">
                          <a:solidFill>
                            <a:schemeClr val="lt1"/>
                          </a:solidFill>
                          <a:latin typeface="+mn-lt"/>
                          <a:ea typeface="+mn-ea"/>
                          <a:cs typeface="+mn-cs"/>
                        </a:rPr>
                        <a:t>Comprehensiveness</a:t>
                      </a:r>
                      <a:endParaRPr lang="en-US" sz="2000" dirty="0"/>
                    </a:p>
                  </a:txBody>
                  <a:tcPr anchor="ctr"/>
                </a:tc>
                <a:tc>
                  <a:txBody>
                    <a:bodyPr/>
                    <a:lstStyle/>
                    <a:p>
                      <a:pPr algn="ctr"/>
                      <a:r>
                        <a:rPr lang="en-US" sz="2000" b="0" i="0" u="none" strike="noStrike" kern="1200" baseline="0" dirty="0" smtClean="0">
                          <a:solidFill>
                            <a:schemeClr val="lt1"/>
                          </a:solidFill>
                          <a:latin typeface="+mn-lt"/>
                          <a:ea typeface="+mn-ea"/>
                          <a:cs typeface="+mn-cs"/>
                        </a:rPr>
                        <a:t>Diversity</a:t>
                      </a:r>
                      <a:endParaRPr lang="en-US" sz="2000" dirty="0"/>
                    </a:p>
                  </a:txBody>
                  <a:tcPr anchor="ctr"/>
                </a:tc>
                <a:tc>
                  <a:txBody>
                    <a:bodyPr/>
                    <a:lstStyle/>
                    <a:p>
                      <a:pPr algn="ctr"/>
                      <a:r>
                        <a:rPr lang="en-US" sz="2000" b="0" i="0" u="none" strike="noStrike" kern="1200" baseline="0" dirty="0" smtClean="0">
                          <a:solidFill>
                            <a:schemeClr val="lt1"/>
                          </a:solidFill>
                          <a:latin typeface="+mn-lt"/>
                          <a:ea typeface="+mn-ea"/>
                          <a:cs typeface="+mn-cs"/>
                        </a:rPr>
                        <a:t>Logicality</a:t>
                      </a:r>
                      <a:endParaRPr lang="en-US" sz="2000" dirty="0"/>
                    </a:p>
                  </a:txBody>
                  <a:tcPr anchor="ctr"/>
                </a:tc>
                <a:tc>
                  <a:txBody>
                    <a:bodyPr/>
                    <a:lstStyle/>
                    <a:p>
                      <a:pPr algn="ctr"/>
                      <a:r>
                        <a:rPr lang="en-US" sz="2000" b="0" i="0" u="none" strike="noStrike" kern="1200" baseline="0" dirty="0" smtClean="0">
                          <a:solidFill>
                            <a:schemeClr val="lt1"/>
                          </a:solidFill>
                          <a:latin typeface="+mn-lt"/>
                          <a:ea typeface="+mn-ea"/>
                          <a:cs typeface="+mn-cs"/>
                        </a:rPr>
                        <a:t>Relevance</a:t>
                      </a:r>
                      <a:endParaRPr lang="en-US" sz="2000" dirty="0"/>
                    </a:p>
                  </a:txBody>
                  <a:tcPr anchor="ctr"/>
                </a:tc>
                <a:tc>
                  <a:txBody>
                    <a:bodyPr/>
                    <a:lstStyle/>
                    <a:p>
                      <a:pPr algn="ctr"/>
                      <a:r>
                        <a:rPr lang="en-US" sz="2000" b="0" i="0" u="none" strike="noStrike" kern="1200" baseline="0" dirty="0" smtClean="0">
                          <a:solidFill>
                            <a:schemeClr val="lt1"/>
                          </a:solidFill>
                          <a:latin typeface="+mn-lt"/>
                          <a:ea typeface="+mn-ea"/>
                          <a:cs typeface="+mn-cs"/>
                        </a:rPr>
                        <a:t>Coherence</a:t>
                      </a:r>
                      <a:endParaRPr lang="en-US" sz="2000" dirty="0"/>
                    </a:p>
                  </a:txBody>
                  <a:tcPr anchor="ctr"/>
                </a:tc>
                <a:extLst>
                  <a:ext uri="{0D108BD9-81ED-4DB2-BD59-A6C34878D82A}">
                    <a16:rowId xmlns:a16="http://schemas.microsoft.com/office/drawing/2014/main" val="2475192775"/>
                  </a:ext>
                </a:extLst>
              </a:tr>
              <a:tr h="370840">
                <a:tc>
                  <a:txBody>
                    <a:bodyPr/>
                    <a:lstStyle/>
                    <a:p>
                      <a:pPr algn="ctr"/>
                      <a:r>
                        <a:rPr lang="en-US" sz="2000" dirty="0" smtClean="0"/>
                        <a:t>60.88%</a:t>
                      </a:r>
                      <a:endParaRPr lang="en-US" sz="2000" dirty="0"/>
                    </a:p>
                  </a:txBody>
                  <a:tcPr anchor="ctr"/>
                </a:tc>
                <a:tc>
                  <a:txBody>
                    <a:bodyPr/>
                    <a:lstStyle/>
                    <a:p>
                      <a:pPr algn="ctr"/>
                      <a:r>
                        <a:rPr lang="en-US" sz="1800" b="0" i="0" u="none" strike="noStrike" kern="1200" baseline="0" dirty="0" smtClean="0">
                          <a:solidFill>
                            <a:schemeClr val="dk1"/>
                          </a:solidFill>
                          <a:latin typeface="+mn-lt"/>
                          <a:ea typeface="+mn-ea"/>
                          <a:cs typeface="+mn-cs"/>
                        </a:rPr>
                        <a:t>62.75%</a:t>
                      </a:r>
                      <a:endParaRPr lang="en-US" sz="2000" dirty="0"/>
                    </a:p>
                  </a:txBody>
                  <a:tcPr anchor="ctr"/>
                </a:tc>
                <a:tc>
                  <a:txBody>
                    <a:bodyPr/>
                    <a:lstStyle/>
                    <a:p>
                      <a:pPr algn="ctr"/>
                      <a:r>
                        <a:rPr lang="en-US" sz="1800" b="0" i="0" u="none" strike="noStrike" kern="1200" baseline="0" dirty="0" smtClean="0">
                          <a:solidFill>
                            <a:schemeClr val="dk1"/>
                          </a:solidFill>
                          <a:latin typeface="+mn-lt"/>
                          <a:ea typeface="+mn-ea"/>
                          <a:cs typeface="+mn-cs"/>
                        </a:rPr>
                        <a:t>59.78%</a:t>
                      </a:r>
                      <a:endParaRPr lang="en-US" sz="2000" dirty="0"/>
                    </a:p>
                  </a:txBody>
                  <a:tcPr anchor="ctr"/>
                </a:tc>
                <a:tc>
                  <a:txBody>
                    <a:bodyPr/>
                    <a:lstStyle/>
                    <a:p>
                      <a:pPr algn="ctr"/>
                      <a:r>
                        <a:rPr lang="en-US" sz="1800" b="0" i="0" u="none" strike="noStrike" kern="1200" baseline="0" dirty="0" smtClean="0">
                          <a:solidFill>
                            <a:schemeClr val="dk1"/>
                          </a:solidFill>
                          <a:latin typeface="+mn-lt"/>
                          <a:ea typeface="+mn-ea"/>
                          <a:cs typeface="+mn-cs"/>
                        </a:rPr>
                        <a:t>60.47%</a:t>
                      </a:r>
                      <a:endParaRPr lang="en-US" sz="2000" dirty="0"/>
                    </a:p>
                  </a:txBody>
                  <a:tcPr anchor="ctr"/>
                </a:tc>
                <a:tc>
                  <a:txBody>
                    <a:bodyPr/>
                    <a:lstStyle/>
                    <a:p>
                      <a:pPr algn="ctr"/>
                      <a:r>
                        <a:rPr lang="en-US" sz="1800" b="0" i="0" u="none" strike="noStrike" kern="1200" baseline="0" dirty="0" smtClean="0">
                          <a:solidFill>
                            <a:schemeClr val="dk1"/>
                          </a:solidFill>
                          <a:latin typeface="+mn-lt"/>
                          <a:ea typeface="+mn-ea"/>
                          <a:cs typeface="+mn-cs"/>
                        </a:rPr>
                        <a:t>59.93%</a:t>
                      </a:r>
                      <a:endParaRPr lang="en-US" sz="2000" dirty="0"/>
                    </a:p>
                  </a:txBody>
                  <a:tcPr anchor="ctr"/>
                </a:tc>
                <a:extLst>
                  <a:ext uri="{0D108BD9-81ED-4DB2-BD59-A6C34878D82A}">
                    <a16:rowId xmlns:a16="http://schemas.microsoft.com/office/drawing/2014/main" val="4018416410"/>
                  </a:ext>
                </a:extLst>
              </a:tr>
            </a:tbl>
          </a:graphicData>
        </a:graphic>
      </p:graphicFrame>
      <p:sp>
        <p:nvSpPr>
          <p:cNvPr id="8" name="Title 1"/>
          <p:cNvSpPr>
            <a:spLocks noGrp="1"/>
          </p:cNvSpPr>
          <p:nvPr>
            <p:ph type="title"/>
          </p:nvPr>
        </p:nvSpPr>
        <p:spPr>
          <a:xfrm>
            <a:off x="1141413" y="0"/>
            <a:ext cx="9905998" cy="1478570"/>
          </a:xfrm>
        </p:spPr>
        <p:txBody>
          <a:bodyPr/>
          <a:lstStyle/>
          <a:p>
            <a:r>
              <a:rPr lang="en-US" cap="none" dirty="0" err="1" smtClean="0">
                <a:solidFill>
                  <a:srgbClr val="FF3399"/>
                </a:solidFill>
              </a:rPr>
              <a:t>PathRag</a:t>
            </a:r>
            <a:r>
              <a:rPr lang="en-US" cap="none" dirty="0" smtClean="0">
                <a:solidFill>
                  <a:srgbClr val="FF3399"/>
                </a:solidFill>
              </a:rPr>
              <a:t> win Rate across all metrics</a:t>
            </a:r>
            <a:endParaRPr lang="en-US" cap="none" dirty="0">
              <a:solidFill>
                <a:srgbClr val="FF3399"/>
              </a:solidFill>
            </a:endParaRPr>
          </a:p>
        </p:txBody>
      </p:sp>
      <p:sp>
        <p:nvSpPr>
          <p:cNvPr id="10" name="Rectangle 9"/>
          <p:cNvSpPr/>
          <p:nvPr/>
        </p:nvSpPr>
        <p:spPr>
          <a:xfrm>
            <a:off x="1141413" y="2050726"/>
            <a:ext cx="10239340" cy="4462760"/>
          </a:xfrm>
          <a:prstGeom prst="rect">
            <a:avLst/>
          </a:prstGeom>
        </p:spPr>
        <p:txBody>
          <a:bodyPr wrap="square">
            <a:spAutoFit/>
          </a:bodyPr>
          <a:lstStyle/>
          <a:p>
            <a:pPr marL="285750" indent="-285750">
              <a:buFont typeface="Arial" panose="020B0604020202020204" pitchFamily="34" charset="0"/>
              <a:buChar char="•"/>
            </a:pPr>
            <a:r>
              <a:rPr lang="en-US" sz="2000" dirty="0"/>
              <a:t>Comprehensiveness: how fully the answer covers all important aspects of the question, without missing key points</a:t>
            </a:r>
            <a:r>
              <a:rPr lang="en-US" sz="2000" dirty="0" smtClean="0"/>
              <a:t>.</a:t>
            </a:r>
          </a:p>
          <a:p>
            <a:pPr marL="285750" indent="-285750">
              <a:buFont typeface="Arial" panose="020B0604020202020204" pitchFamily="34" charset="0"/>
              <a:buChar char="•"/>
            </a:pPr>
            <a:endParaRPr lang="en-US" sz="2000" dirty="0"/>
          </a:p>
          <a:p>
            <a:pPr marL="285750" indent="-285750">
              <a:buFont typeface="Arial" panose="020B0604020202020204" pitchFamily="34" charset="0"/>
              <a:buChar char="•"/>
            </a:pPr>
            <a:r>
              <a:rPr lang="en-US" sz="2000" dirty="0"/>
              <a:t>Diversity: </a:t>
            </a:r>
            <a:r>
              <a:rPr lang="en-US" sz="2000" dirty="0" smtClean="0"/>
              <a:t>how </a:t>
            </a:r>
            <a:r>
              <a:rPr lang="en-US" sz="2000" dirty="0"/>
              <a:t>well the answer incorporates different perspectives, facts, or reasoning paths instead of repeating the same idea</a:t>
            </a:r>
            <a:r>
              <a:rPr lang="en-US" sz="2000" dirty="0" smtClean="0"/>
              <a:t>.</a:t>
            </a:r>
          </a:p>
          <a:p>
            <a:endParaRPr lang="en-US" sz="2000" dirty="0"/>
          </a:p>
          <a:p>
            <a:pPr marL="285750" indent="-285750">
              <a:buFont typeface="Arial" panose="020B0604020202020204" pitchFamily="34" charset="0"/>
              <a:buChar char="•"/>
            </a:pPr>
            <a:r>
              <a:rPr lang="en-US" sz="2000" dirty="0"/>
              <a:t>Logicality: how logically sound and well-reasoned the answer is, with clear cause-and-effect or step-by-step reasoning</a:t>
            </a:r>
            <a:r>
              <a:rPr lang="en-US" sz="2000" dirty="0" smtClean="0"/>
              <a:t>.</a:t>
            </a:r>
          </a:p>
          <a:p>
            <a:endParaRPr lang="en-US" sz="2000" dirty="0"/>
          </a:p>
          <a:p>
            <a:pPr marL="285750" indent="-285750">
              <a:buFont typeface="Arial" panose="020B0604020202020204" pitchFamily="34" charset="0"/>
              <a:buChar char="•"/>
            </a:pPr>
            <a:r>
              <a:rPr lang="en-US" sz="2000" dirty="0"/>
              <a:t>Relevance: how directly the answer addresses the question and avoids unnecessary or off-topic information</a:t>
            </a:r>
            <a:r>
              <a:rPr lang="en-US" sz="2000" dirty="0" smtClean="0"/>
              <a:t>.</a:t>
            </a:r>
          </a:p>
          <a:p>
            <a:endParaRPr lang="en-US" sz="2000" dirty="0"/>
          </a:p>
          <a:p>
            <a:pPr marL="285750" indent="-285750">
              <a:buFont typeface="Arial" panose="020B0604020202020204" pitchFamily="34" charset="0"/>
              <a:buChar char="•"/>
            </a:pPr>
            <a:r>
              <a:rPr lang="en-US" sz="2000" dirty="0"/>
              <a:t>Coherence: how clear, fluent, and well-structured the answer is as a whole, with ideas flowing naturally</a:t>
            </a:r>
            <a:r>
              <a:rPr lang="en-US" sz="2400" dirty="0"/>
              <a:t>.</a:t>
            </a:r>
          </a:p>
        </p:txBody>
      </p:sp>
    </p:spTree>
    <p:extLst>
      <p:ext uri="{BB962C8B-B14F-4D97-AF65-F5344CB8AC3E}">
        <p14:creationId xmlns:p14="http://schemas.microsoft.com/office/powerpoint/2010/main" val="10361287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41412" y="1222744"/>
            <a:ext cx="9905999" cy="5092996"/>
          </a:xfrm>
        </p:spPr>
        <p:txBody>
          <a:bodyPr>
            <a:normAutofit/>
          </a:bodyPr>
          <a:lstStyle/>
          <a:p>
            <a:r>
              <a:rPr lang="en-US" dirty="0" smtClean="0"/>
              <a:t>Number </a:t>
            </a:r>
            <a:r>
              <a:rPr lang="en-US" dirty="0"/>
              <a:t>of retrieved nodes (N):</a:t>
            </a:r>
            <a:br>
              <a:rPr lang="en-US" dirty="0"/>
            </a:br>
            <a:r>
              <a:rPr lang="en-US" dirty="0"/>
              <a:t>Performance improves as N increases, peaks at N = 40, then slightly declines because extra nodes become less relevant and introduce noise</a:t>
            </a:r>
            <a:r>
              <a:rPr lang="en-US" dirty="0" smtClean="0"/>
              <a:t>.</a:t>
            </a:r>
            <a:endParaRPr lang="en-US" dirty="0"/>
          </a:p>
          <a:p>
            <a:r>
              <a:rPr lang="en-US" dirty="0" smtClean="0"/>
              <a:t>Number </a:t>
            </a:r>
            <a:r>
              <a:rPr lang="en-US" dirty="0"/>
              <a:t>of retrieved paths (K</a:t>
            </a:r>
            <a:r>
              <a:rPr lang="en-US" dirty="0" smtClean="0"/>
              <a:t>):</a:t>
            </a:r>
            <a:br>
              <a:rPr lang="en-US" dirty="0" smtClean="0"/>
            </a:br>
            <a:r>
              <a:rPr lang="en-US" dirty="0" smtClean="0"/>
              <a:t>Performance </a:t>
            </a:r>
            <a:r>
              <a:rPr lang="en-US" dirty="0"/>
              <a:t>peaks at K = 15; adding more paths (e.g., K = 25) does not help and can hurt performance, though larger datasets may benefit from larger K</a:t>
            </a:r>
            <a:r>
              <a:rPr lang="en-US" dirty="0" smtClean="0"/>
              <a:t>.</a:t>
            </a:r>
            <a:endParaRPr lang="en-US" dirty="0"/>
          </a:p>
          <a:p>
            <a:r>
              <a:rPr lang="en-US" dirty="0" smtClean="0"/>
              <a:t>Decay </a:t>
            </a:r>
            <a:r>
              <a:rPr lang="en-US" dirty="0"/>
              <a:t>rate (α</a:t>
            </a:r>
            <a:r>
              <a:rPr lang="en-US" dirty="0" smtClean="0"/>
              <a:t>):</a:t>
            </a:r>
            <a:br>
              <a:rPr lang="en-US" dirty="0" smtClean="0"/>
            </a:br>
            <a:r>
              <a:rPr lang="en-US" dirty="0" smtClean="0"/>
              <a:t>Best </a:t>
            </a:r>
            <a:r>
              <a:rPr lang="en-US" dirty="0"/>
              <a:t>performance occurs at α = 0.8; too small α over-prioritizes short paths, while α = 1.0 ignores distance and significantly degrades performance.</a:t>
            </a:r>
          </a:p>
          <a:p>
            <a:endParaRPr lang="en-US" dirty="0"/>
          </a:p>
        </p:txBody>
      </p:sp>
      <p:sp>
        <p:nvSpPr>
          <p:cNvPr id="4" name="Title 1"/>
          <p:cNvSpPr>
            <a:spLocks noGrp="1"/>
          </p:cNvSpPr>
          <p:nvPr>
            <p:ph type="title"/>
          </p:nvPr>
        </p:nvSpPr>
        <p:spPr>
          <a:xfrm>
            <a:off x="1141413" y="0"/>
            <a:ext cx="9905998" cy="1478570"/>
          </a:xfrm>
        </p:spPr>
        <p:txBody>
          <a:bodyPr>
            <a:normAutofit/>
          </a:bodyPr>
          <a:lstStyle/>
          <a:p>
            <a:r>
              <a:rPr lang="en-US" sz="3200" cap="none" dirty="0" err="1" smtClean="0">
                <a:solidFill>
                  <a:srgbClr val="FF3399"/>
                </a:solidFill>
              </a:rPr>
              <a:t>hyperparameter</a:t>
            </a:r>
            <a:r>
              <a:rPr lang="en-US" sz="3200" cap="none" dirty="0" smtClean="0">
                <a:solidFill>
                  <a:srgbClr val="FF3399"/>
                </a:solidFill>
              </a:rPr>
              <a:t> analysis: (legal dataset)</a:t>
            </a:r>
            <a:endParaRPr lang="en-US" sz="3200" cap="none" dirty="0">
              <a:solidFill>
                <a:srgbClr val="FF3399"/>
              </a:solidFill>
            </a:endParaRPr>
          </a:p>
        </p:txBody>
      </p:sp>
    </p:spTree>
    <p:extLst>
      <p:ext uri="{BB962C8B-B14F-4D97-AF65-F5344CB8AC3E}">
        <p14:creationId xmlns:p14="http://schemas.microsoft.com/office/powerpoint/2010/main" val="2464702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2861" y="579918"/>
            <a:ext cx="7143750" cy="4762500"/>
          </a:xfrm>
          <a:prstGeom prst="rect">
            <a:avLst/>
          </a:prstGeom>
        </p:spPr>
      </p:pic>
      <p:sp>
        <p:nvSpPr>
          <p:cNvPr id="5" name="TextBox 4"/>
          <p:cNvSpPr txBox="1"/>
          <p:nvPr/>
        </p:nvSpPr>
        <p:spPr>
          <a:xfrm>
            <a:off x="2502861" y="5507665"/>
            <a:ext cx="7275551" cy="707886"/>
          </a:xfrm>
          <a:prstGeom prst="rect">
            <a:avLst/>
          </a:prstGeom>
          <a:noFill/>
        </p:spPr>
        <p:txBody>
          <a:bodyPr wrap="square" rtlCol="0">
            <a:spAutoFit/>
          </a:bodyPr>
          <a:lstStyle/>
          <a:p>
            <a:r>
              <a:rPr lang="en-US" sz="4000" dirty="0" smtClean="0">
                <a:solidFill>
                  <a:srgbClr val="C00000"/>
                </a:solidFill>
              </a:rPr>
              <a:t>Thanks for listening.</a:t>
            </a:r>
            <a:endParaRPr lang="en-US" sz="4000" dirty="0">
              <a:solidFill>
                <a:srgbClr val="C00000"/>
              </a:solidFill>
            </a:endParaRPr>
          </a:p>
        </p:txBody>
      </p:sp>
    </p:spTree>
    <p:extLst>
      <p:ext uri="{BB962C8B-B14F-4D97-AF65-F5344CB8AC3E}">
        <p14:creationId xmlns:p14="http://schemas.microsoft.com/office/powerpoint/2010/main" val="36946513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Theme1">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Theme1" id="{D105D84E-BE78-429C-B7DF-397C05240584}" vid="{99E7FBF7-AE13-4148-8840-1779A6A6C3C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Theme1</Template>
  <TotalTime>554</TotalTime>
  <Words>3708</Words>
  <Application>Microsoft Office PowerPoint</Application>
  <PresentationFormat>Widescreen</PresentationFormat>
  <Paragraphs>337</Paragraphs>
  <Slides>32</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Cambria Math</vt:lpstr>
      <vt:lpstr>Inter</vt:lpstr>
      <vt:lpstr>Trebuchet MS</vt:lpstr>
      <vt:lpstr>Theme1</vt:lpstr>
      <vt:lpstr>PATH-RAG:  reasoning over knowledge paths</vt:lpstr>
      <vt:lpstr>Introduction:</vt:lpstr>
      <vt:lpstr>graph-rag VS traditional rag ?</vt:lpstr>
      <vt:lpstr>Figure 1: Comparison between different graph-based RAG methods.</vt:lpstr>
      <vt:lpstr>Solution: path-rag</vt:lpstr>
      <vt:lpstr>“LOST IN THE MIDDLE” problem</vt:lpstr>
      <vt:lpstr>Knowledge Sources for RAG</vt:lpstr>
      <vt:lpstr>Text-Based RAG</vt:lpstr>
      <vt:lpstr>PowerPoint Presentation</vt:lpstr>
      <vt:lpstr>KG-RAG</vt:lpstr>
      <vt:lpstr>PowerPoint Presentation</vt:lpstr>
      <vt:lpstr>Graph-based RAG</vt:lpstr>
      <vt:lpstr>PowerPoint Presentation</vt:lpstr>
      <vt:lpstr>PowerPoint Presentation</vt:lpstr>
      <vt:lpstr>PowerPoint Presentation</vt:lpstr>
      <vt:lpstr>Indexing-Graph construction</vt:lpstr>
      <vt:lpstr>PowerPoint Presentation</vt:lpstr>
      <vt:lpstr>Node Retrieval</vt:lpstr>
      <vt:lpstr>PowerPoint Presentation</vt:lpstr>
      <vt:lpstr>Node Retrieval</vt:lpstr>
      <vt:lpstr>Definitions</vt:lpstr>
      <vt:lpstr>Resource propagation rule</vt:lpstr>
      <vt:lpstr>PowerPoint Presentation</vt:lpstr>
      <vt:lpstr>Stopping criterion</vt:lpstr>
      <vt:lpstr>Path reliability measurement</vt:lpstr>
      <vt:lpstr>Textual relational path construction</vt:lpstr>
      <vt:lpstr>PowerPoint Presentation</vt:lpstr>
      <vt:lpstr>complexity analysis – node propagation</vt:lpstr>
      <vt:lpstr>Evaluation</vt:lpstr>
      <vt:lpstr>PathRag win Rate across all metrics</vt:lpstr>
      <vt:lpstr>hyperparameter analysis: (legal dataset)</vt:lpstr>
      <vt:lpstr>PowerPoint Presentation</vt:lpstr>
    </vt:vector>
  </TitlesOfParts>
  <Company>Company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path-rag: reasoning over knowledge paths</dc:title>
  <dc:creator>User</dc:creator>
  <cp:lastModifiedBy>User</cp:lastModifiedBy>
  <cp:revision>41</cp:revision>
  <dcterms:created xsi:type="dcterms:W3CDTF">2026-01-01T11:30:45Z</dcterms:created>
  <dcterms:modified xsi:type="dcterms:W3CDTF">2026-01-28T18:44:17Z</dcterms:modified>
</cp:coreProperties>
</file>